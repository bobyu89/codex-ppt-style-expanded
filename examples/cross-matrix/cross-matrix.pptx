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04fdf1e169441c" /><Relationship Type="http://schemas.openxmlformats.org/officeDocument/2006/relationships/extended-properties" Target="/docProps/app.xml" Id="R586c1f93a1d24bfe" /><Relationship Type="http://schemas.openxmlformats.org/officeDocument/2006/relationships/officeDocument" Target="/ppt/presentation.xml" Id="Re8062ab725c24eb3" /></Relationships>
</file>

<file path=ppt/presentation.xml><?xml version="1.0" encoding="utf-8"?>
<p:presentation xmlns:p="http://schemas.openxmlformats.org/presentationml/2006/main">
  <p:sldMasterIdLst>
    <p:sldMasterId xmlns:r="http://schemas.openxmlformats.org/officeDocument/2006/relationships" id="2147483648" r:id="R0f4d01efb00049f5"/>
  </p:sldMasterIdLst>
  <p:notesMasterIdLst>
    <p:notesMasterId xmlns:r="http://schemas.openxmlformats.org/officeDocument/2006/relationships" r:id="Rc06cb02d465d4412"/>
  </p:notesMasterIdLst>
  <p:sldIdLst>
    <p:sldId xmlns:r="http://schemas.openxmlformats.org/officeDocument/2006/relationships" id="256" r:id="Red7d9cf2c6234412"/>
    <p:sldId xmlns:r="http://schemas.openxmlformats.org/officeDocument/2006/relationships" id="257" r:id="R4259c79ac50c426d"/>
    <p:sldId xmlns:r="http://schemas.openxmlformats.org/officeDocument/2006/relationships" id="258" r:id="Rad6c9d3f7f324938"/>
    <p:sldId xmlns:r="http://schemas.openxmlformats.org/officeDocument/2006/relationships" id="259" r:id="R3fc469acc25c4b4c"/>
    <p:sldId xmlns:r="http://schemas.openxmlformats.org/officeDocument/2006/relationships" id="260" r:id="R47b8ad9a050e43d6"/>
    <p:sldId xmlns:r="http://schemas.openxmlformats.org/officeDocument/2006/relationships" id="261" r:id="Rfead2e9854784eb6"/>
    <p:sldId xmlns:r="http://schemas.openxmlformats.org/officeDocument/2006/relationships" id="262" r:id="R49175cb0dddb4f1d"/>
    <p:sldId xmlns:r="http://schemas.openxmlformats.org/officeDocument/2006/relationships" id="263" r:id="R91091c8cbbe44405"/>
    <p:sldId xmlns:r="http://schemas.openxmlformats.org/officeDocument/2006/relationships" id="264" r:id="R23bcc872d7594d9d"/>
  </p:sldIdLst>
  <p:sldSz cx="12192000" cy="6858000"/>
  <p:notesSz cx="6858000" cy="9144000"/>
</p:presentation>
</file>

<file path=ppt/presProps.xml><?xml version="1.0" encoding="utf-8"?>
<p:presentationPr xmlns:p="http://schemas.openxmlformats.org/presentationml/2006/main">
  <p:showPr useTimings="1"/>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024772784347ce" /><Relationship Type="http://schemas.openxmlformats.org/officeDocument/2006/relationships/slideMaster" Target="/ppt/slideMasters/slideMaster1.xml" Id="R0f4d01efb00049f5" /><Relationship Type="http://schemas.openxmlformats.org/officeDocument/2006/relationships/notesMaster" Target="/ppt/notesMasters/notesMaster1.xml" Id="Rc06cb02d465d4412" /><Relationship Type="http://schemas.openxmlformats.org/officeDocument/2006/relationships/presProps" Target="/ppt/presProps.xml" Id="R9dc40b7855b446ac" /><Relationship Type="http://schemas.openxmlformats.org/officeDocument/2006/relationships/tableStyles" Target="/ppt/tableStyles.xml" Id="Rea8e305e035d4d29" /><Relationship Type="http://schemas.openxmlformats.org/officeDocument/2006/relationships/slide" Target="/ppt/slides/slide1.xml" Id="Red7d9cf2c6234412" /><Relationship Type="http://schemas.openxmlformats.org/officeDocument/2006/relationships/slide" Target="/ppt/slides/slide2.xml" Id="R4259c79ac50c426d" /><Relationship Type="http://schemas.openxmlformats.org/officeDocument/2006/relationships/slide" Target="/ppt/slides/slide3.xml" Id="Rad6c9d3f7f324938" /><Relationship Type="http://schemas.openxmlformats.org/officeDocument/2006/relationships/slide" Target="/ppt/slides/slide4.xml" Id="R3fc469acc25c4b4c" /><Relationship Type="http://schemas.openxmlformats.org/officeDocument/2006/relationships/slide" Target="/ppt/slides/slide5.xml" Id="R47b8ad9a050e43d6" /><Relationship Type="http://schemas.openxmlformats.org/officeDocument/2006/relationships/slide" Target="/ppt/slides/slide6.xml" Id="Rfead2e9854784eb6" /><Relationship Type="http://schemas.openxmlformats.org/officeDocument/2006/relationships/slide" Target="/ppt/slides/slide7.xml" Id="R49175cb0dddb4f1d" /><Relationship Type="http://schemas.openxmlformats.org/officeDocument/2006/relationships/slide" Target="/ppt/slides/slide8.xml" Id="R91091c8cbbe44405" /><Relationship Type="http://schemas.openxmlformats.org/officeDocument/2006/relationships/slide" Target="/ppt/slides/slide9.xml" Id="R23bcc872d7594d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5bdf00b93642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21aec5214643ea" /><Relationship Type="http://schemas.openxmlformats.org/officeDocument/2006/relationships/notesMaster" Target="/ppt/notesMasters/notesMaster1.xml" Id="R0733bfcd739c49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bf31e3510144a6" /><Relationship Type="http://schemas.openxmlformats.org/officeDocument/2006/relationships/notesMaster" Target="/ppt/notesMasters/notesMaster1.xml" Id="R455431746caf4c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5b5ac09eba4e02" /><Relationship Type="http://schemas.openxmlformats.org/officeDocument/2006/relationships/notesMaster" Target="/ppt/notesMasters/notesMaster1.xml" Id="Rb3ae43594e454b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41ae715fe540b5" /><Relationship Type="http://schemas.openxmlformats.org/officeDocument/2006/relationships/notesMaster" Target="/ppt/notesMasters/notesMaster1.xml" Id="R4866ab281c964a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b7d026cb154eba" /><Relationship Type="http://schemas.openxmlformats.org/officeDocument/2006/relationships/notesMaster" Target="/ppt/notesMasters/notesMaster1.xml" Id="Raf4b745ed42d40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0fb4f0a2614d28" /><Relationship Type="http://schemas.openxmlformats.org/officeDocument/2006/relationships/notesMaster" Target="/ppt/notesMasters/notesMaster1.xml" Id="R3c01dd24ee504f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7e360f687647ca" /><Relationship Type="http://schemas.openxmlformats.org/officeDocument/2006/relationships/notesMaster" Target="/ppt/notesMasters/notesMaster1.xml" Id="R7da55b952ddd42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8ea4b3e4c24cfb" /><Relationship Type="http://schemas.openxmlformats.org/officeDocument/2006/relationships/notesMaster" Target="/ppt/notesMasters/notesMaster1.xml" Id="Rbb4bb382bd7340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79aab169914ed2" /><Relationship Type="http://schemas.openxmlformats.org/officeDocument/2006/relationships/notesMaster" Target="/ppt/notesMasters/notesMaster1.xml" Id="R22dc79e9216049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項研究比較了一百一十位工程學生觀看不同投影片結構後的學習表現。主張—證據組在理解、錯誤概念與自評認知負荷上呈現較好的結果。這裡只摘要結果方向，不代表我們可以把效果量或結論推廣到所有研究場合。</a:t>
            </a:r>
          </a:p>
          <a:p xmlns:a="http://schemas.openxmlformats.org/drawingml/2006/main">
            <a:r>
              <a:t/>
            </a:r>
          </a:p>
          <a:p xmlns:a="http://schemas.openxmlformats.org/drawingml/2006/main">
            <a:r>
              <a:t>模式：research；風格：handdrawn。</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https://pure.psu.edu/en/publications/how-the-design-of-presentation-slides-affects-audience-comprehens/</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項研究比較了一百一十位工程學生觀看不同投影片結構後的學習表現。主張—證據組在理解、錯誤概念與自評認知負荷上呈現較好的結果。這裡只摘要結果方向，不代表我們可以把效果量或結論推廣到所有研究場合。</a:t>
            </a:r>
          </a:p>
          <a:p xmlns:a="http://schemas.openxmlformats.org/drawingml/2006/main">
            <a:r>
              <a:t/>
            </a:r>
          </a:p>
          <a:p xmlns:a="http://schemas.openxmlformats.org/drawingml/2006/main">
            <a:r>
              <a:t>模式：research；風格：scientific。</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https://pure.psu.edu/en/publications/how-the-design-of-presentation-slides-affects-audience-comprehens/</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項研究比較了一百一十位工程學生觀看不同投影片結構後的學習表現。主張—證據組在理解、錯誤概念與自評認知負荷上呈現較好的結果。這裡只摘要結果方向，不代表我們可以把效果量或結論推廣到所有研究場合。</a:t>
            </a:r>
          </a:p>
          <a:p xmlns:a="http://schemas.openxmlformats.org/drawingml/2006/main">
            <a:r>
              <a:t/>
            </a:r>
          </a:p>
          <a:p xmlns:a="http://schemas.openxmlformats.org/drawingml/2006/main">
            <a:r>
              <a:t>模式：research；風格：magazine。</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https://pure.psu.edu/en/publications/how-the-design-of-presentation-slides-affects-audience-comprehens/</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製作研究簡報可以先做三件事。第一，用一句話說清楚這一頁的主要發現。第二，找出能支持它的圖表、案例或原始證據。第三，刪掉不支援這個訊息的內容。圖像的作用是幫助理解，不是填滿空間。</a:t>
            </a:r>
          </a:p>
          <a:p xmlns:a="http://schemas.openxmlformats.org/drawingml/2006/main">
            <a:r>
              <a:t/>
            </a:r>
          </a:p>
          <a:p xmlns:a="http://schemas.openxmlformats.org/drawingml/2006/main">
            <a:r>
              <a:t>模式：teaching；風格：handdrawn。</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製作研究簡報可以先做三件事。第一，用一句話說清楚這一頁的主要發現。第二，找出能支持它的圖表、案例或原始證據。第三，刪掉不支援這個訊息的內容。圖像的作用是幫助理解，不是填滿空間。</a:t>
            </a:r>
          </a:p>
          <a:p xmlns:a="http://schemas.openxmlformats.org/drawingml/2006/main">
            <a:r>
              <a:t/>
            </a:r>
          </a:p>
          <a:p xmlns:a="http://schemas.openxmlformats.org/drawingml/2006/main">
            <a:r>
              <a:t>模式：teaching；風格：scientific。</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製作研究簡報可以先做三件事。第一，用一句話說清楚這一頁的主要發現。第二，找出能支持它的圖表、案例或原始證據。第三，刪掉不支援這個訊息的內容。圖像的作用是幫助理解，不是填滿空間。</a:t>
            </a:r>
          </a:p>
          <a:p xmlns:a="http://schemas.openxmlformats.org/drawingml/2006/main">
            <a:r>
              <a:t/>
            </a:r>
          </a:p>
          <a:p xmlns:a="http://schemas.openxmlformats.org/drawingml/2006/main">
            <a:r>
              <a:t>模式：teaching；風格：magazine。</a:t>
            </a:r>
          </a:p>
          <a:p xmlns:a="http://schemas.openxmlformats.org/drawingml/2006/main">
            <a:r>
              <a:t/>
            </a:r>
          </a:p>
          <a:p xmlns:a="http://schemas.openxmlformats.org/drawingml/2006/main">
            <a:r>
              <a:t>代表頁樣張，非完整報告。</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聽眾第一次接觸你的研究，不知道哪裡最重要。先用一句話說清楚這頁的重點，再讓圖像把注意力帶到那裡。這二十秒，只留下你最希望他記住的一件事。</a:t>
            </a:r>
          </a:p>
          <a:p xmlns:a="http://schemas.openxmlformats.org/drawingml/2006/main">
            <a:r>
              <a:t/>
            </a:r>
          </a:p>
          <a:p xmlns:a="http://schemas.openxmlformats.org/drawingml/2006/main">
            <a:r>
              <a:t>模式：pecha；風格：handdrawn。</a:t>
            </a:r>
          </a:p>
          <a:p xmlns:a="http://schemas.openxmlformats.org/drawingml/2006/main">
            <a:r>
              <a:t/>
            </a:r>
          </a:p>
          <a:p xmlns:a="http://schemas.openxmlformats.org/drawingml/2006/main">
            <a:r>
              <a:t>20 秒講稿草案；未經真人計時試講。本頁是節奏樣張，不是完整 20×20 簡報。</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聽眾第一次接觸你的研究，不知道哪裡最重要。先用一句話說清楚這頁的重點，再讓圖像把注意力帶到那裡。這二十秒，只留下你最希望他記住的一件事。</a:t>
            </a:r>
          </a:p>
          <a:p xmlns:a="http://schemas.openxmlformats.org/drawingml/2006/main">
            <a:r>
              <a:t/>
            </a:r>
          </a:p>
          <a:p xmlns:a="http://schemas.openxmlformats.org/drawingml/2006/main">
            <a:r>
              <a:t>模式：pecha；風格：scientific。</a:t>
            </a:r>
          </a:p>
          <a:p xmlns:a="http://schemas.openxmlformats.org/drawingml/2006/main">
            <a:r>
              <a:t/>
            </a:r>
          </a:p>
          <a:p xmlns:a="http://schemas.openxmlformats.org/drawingml/2006/main">
            <a:r>
              <a:t>20 秒講稿草案；未經真人計時試講。本頁是節奏樣張，不是完整 20×20 簡報。</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聽眾第一次接觸你的研究，不知道哪裡最重要。先用一句話說清楚這頁的重點，再讓圖像把注意力帶到那裡。這二十秒，只留下你最希望他記住的一件事。</a:t>
            </a:r>
          </a:p>
          <a:p xmlns:a="http://schemas.openxmlformats.org/drawingml/2006/main">
            <a:r>
              <a:t/>
            </a:r>
          </a:p>
          <a:p xmlns:a="http://schemas.openxmlformats.org/drawingml/2006/main">
            <a:r>
              <a:t>模式：pecha；風格：magazine。</a:t>
            </a:r>
          </a:p>
          <a:p xmlns:a="http://schemas.openxmlformats.org/drawingml/2006/main">
            <a:r>
              <a:t/>
            </a:r>
          </a:p>
          <a:p xmlns:a="http://schemas.openxmlformats.org/drawingml/2006/main">
            <a:r>
              <a:t>20 秒講稿草案；未經真人計時試講。本頁是節奏樣張，不是完整 20×20 簡報。</a:t>
            </a:r>
          </a:p>
          <a:p xmlns:a="http://schemas.openxmlformats.org/drawingml/2006/main">
            <a:r>
              <a:t/>
            </a:r>
          </a:p>
          <a:p xmlns:a="http://schemas.openxmlformats.org/drawingml/2006/main">
            <a:r>
              <a:t>https://researcher.tw/articles/conference-talk-slide-craft/</a:t>
            </a:r>
          </a:p>
          <a:p xmlns:a="http://schemas.openxmlformats.org/drawingml/2006/main">
            <a:r>
              <a:t/>
            </a:r>
          </a:p>
          <a:p xmlns:a="http://schemas.openxmlformats.org/drawingml/2006/main">
            <a:r>
              <a:t>背景為內建 image_gen 生成，確切模型未公開；所有插畫均為示意，不作為研究數據。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2aa4797b274e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8d35c3957a48db" /><Relationship Type="http://schemas.openxmlformats.org/officeDocument/2006/relationships/slideLayout" Target="/ppt/slideLayouts/slideLayout1.xml" Id="Rb1c50b6987ef45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c50b6987ef45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0d090b243444a5" /><Relationship Type="http://schemas.openxmlformats.org/officeDocument/2006/relationships/image" Target="/ppt/media/image.png" Id="R8f9964f46aaa44e7" /><Relationship Type="http://schemas.openxmlformats.org/officeDocument/2006/relationships/notesSlide" Target="/ppt/notesSlides/notesSlide1.xml" Id="R4efbc5b9342249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e7ee0878434b89" /><Relationship Type="http://schemas.openxmlformats.org/officeDocument/2006/relationships/image" Target="/ppt/media/image2.png" Id="R30b19b5dc77046c5" /><Relationship Type="http://schemas.openxmlformats.org/officeDocument/2006/relationships/notesSlide" Target="/ppt/notesSlides/notesSlide2.xml" Id="R9b0b0076d95748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31433951b4135" /><Relationship Type="http://schemas.openxmlformats.org/officeDocument/2006/relationships/image" Target="/ppt/media/image3.png" Id="R7a964543fac74529" /><Relationship Type="http://schemas.openxmlformats.org/officeDocument/2006/relationships/notesSlide" Target="/ppt/notesSlides/notesSlide3.xml" Id="R5a09772ac8fc45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072dbda83c4aba" /><Relationship Type="http://schemas.openxmlformats.org/officeDocument/2006/relationships/image" Target="/ppt/media/image4.png" Id="Rc78e9392bca74b4c" /><Relationship Type="http://schemas.openxmlformats.org/officeDocument/2006/relationships/notesSlide" Target="/ppt/notesSlides/notesSlide4.xml" Id="Rd617aeb25ab749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1b82a29f424cad" /><Relationship Type="http://schemas.openxmlformats.org/officeDocument/2006/relationships/image" Target="/ppt/media/image5.png" Id="R3f83ed8eed9040a9" /><Relationship Type="http://schemas.openxmlformats.org/officeDocument/2006/relationships/notesSlide" Target="/ppt/notesSlides/notesSlide5.xml" Id="R434247cc455d48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3cc0a945b04709" /><Relationship Type="http://schemas.openxmlformats.org/officeDocument/2006/relationships/image" Target="/ppt/media/image6.png" Id="R4fccd86dfed54178" /><Relationship Type="http://schemas.openxmlformats.org/officeDocument/2006/relationships/notesSlide" Target="/ppt/notesSlides/notesSlide6.xml" Id="Rbbf8140b217140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6b14c6261748e1" /><Relationship Type="http://schemas.openxmlformats.org/officeDocument/2006/relationships/image" Target="/ppt/media/image7.png" Id="Raa58a9c31b6e43a9" /><Relationship Type="http://schemas.openxmlformats.org/officeDocument/2006/relationships/notesSlide" Target="/ppt/notesSlides/notesSlide7.xml" Id="R07bbd1facbdb4f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82e494d1c64eac" /><Relationship Type="http://schemas.openxmlformats.org/officeDocument/2006/relationships/image" Target="/ppt/media/image8.png" Id="R5c5524140ab6411f" /><Relationship Type="http://schemas.openxmlformats.org/officeDocument/2006/relationships/notesSlide" Target="/ppt/notesSlides/notesSlide8.xml" Id="Rbcf049be030d46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488ad0ba2f4fc0" /><Relationship Type="http://schemas.openxmlformats.org/officeDocument/2006/relationships/image" Target="/ppt/media/image9.png" Id="R2ef62cddf8df424d" /><Relationship Type="http://schemas.openxmlformats.org/officeDocument/2006/relationships/notesSlide" Target="/ppt/notesSlides/notesSlide9.xml" Id="R6e41ec1fdebd489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f9964f46aaa44e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5E5AC9-4E72-4CF8-8D43-86C496598A01}"/>
              </a:ext>
            </a:extLst>
          </p:cNvPr>
          <p:cNvSpPr>
            <a:spLocks xmlns:a="http://schemas.openxmlformats.org/drawingml/2006/main" noGrp="1"/>
          </p:cNvSpPr>
          <p:nvPr/>
        </p:nvSpPr>
        <p:spPr>
          <a:xfrm xmlns:a="http://schemas.openxmlformats.org/drawingml/2006/main">
            <a:off x="523875" y="4000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75" b="1">
                <a:solidFill>
                  <a:srgbClr val="252528"/>
                </a:solidFill>
                <a:latin typeface="DFKai-SB"/>
                <a:ea typeface="DFKai-SB"/>
                <a:cs typeface="DFKai-SB"/>
              </a:defRPr>
            </a:pPr>
            <a:r>
              <a:rPr sz="3375" b="1">
                <a:solidFill>
                  <a:srgbClr val="252528"/>
                </a:solidFill>
                <a:latin typeface="DFKai-SB"/>
                <a:ea typeface="DFKai-SB"/>
                <a:cs typeface="DFKai-SB"/>
              </a:rPr>
              <a:t>研究顯示：主張—證據組理解較佳</a:t>
            </a:r>
          </a:p>
        </p:txBody>
      </p:sp>
      <p:sp>
        <p:nvSpPr>
          <p:cNvPr id="3" name="">
            <a:extLst xmlns:a="http://schemas.openxmlformats.org/drawingml/2006/main">
              <a:ext uri="{FF2B5EF4-FFF2-40B4-BE49-F238E27FC236}">
                <a16:creationId xmlns:a16="http://schemas.microsoft.com/office/drawing/2014/main" id="{4036BE16-DF6F-44D3-9FE3-78DC6D2DFDAB}"/>
              </a:ext>
            </a:extLst>
          </p:cNvPr>
          <p:cNvSpPr>
            <a:spLocks xmlns:a="http://schemas.openxmlformats.org/drawingml/2006/main" noGrp="1"/>
          </p:cNvSpPr>
          <p:nvPr/>
        </p:nvSpPr>
        <p:spPr>
          <a:xfrm xmlns:a="http://schemas.openxmlformats.org/drawingml/2006/main">
            <a:off x="1619250" y="1143000"/>
            <a:ext cx="895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0">
                <a:solidFill>
                  <a:srgbClr val="252528"/>
                </a:solidFill>
                <a:latin typeface="DFKai-SB"/>
                <a:ea typeface="DFKai-SB"/>
                <a:cs typeface="DFKai-SB"/>
              </a:defRPr>
            </a:pPr>
            <a:r>
              <a:rPr sz="2175" b="0">
                <a:solidFill>
                  <a:srgbClr val="252528"/>
                </a:solidFill>
                <a:latin typeface="DFKai-SB"/>
                <a:ea typeface="DFKai-SB"/>
                <a:cs typeface="DFKai-SB"/>
              </a:rPr>
              <a:t>110 位工程學生的技術簡報比較研究</a:t>
            </a:r>
          </a:p>
        </p:txBody>
      </p:sp>
      <p:sp>
        <p:nvSpPr>
          <p:cNvPr id="4" name="">
            <a:extLst xmlns:a="http://schemas.openxmlformats.org/drawingml/2006/main">
              <a:ext uri="{FF2B5EF4-FFF2-40B4-BE49-F238E27FC236}">
                <a16:creationId xmlns:a16="http://schemas.microsoft.com/office/drawing/2014/main" id="{6F56C7CF-6F6B-4083-ABB3-DEF76D3B27A0}"/>
              </a:ext>
            </a:extLst>
          </p:cNvPr>
          <p:cNvSpPr>
            <a:spLocks xmlns:a="http://schemas.openxmlformats.org/drawingml/2006/main" noGrp="1"/>
          </p:cNvSpPr>
          <p:nvPr/>
        </p:nvSpPr>
        <p:spPr>
          <a:xfrm xmlns:a="http://schemas.openxmlformats.org/drawingml/2006/main">
            <a:off x="647700" y="182880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0">
                <a:solidFill>
                  <a:srgbClr val="252528"/>
                </a:solidFill>
                <a:latin typeface="DFKai-SB"/>
                <a:ea typeface="DFKai-SB"/>
                <a:cs typeface="DFKai-SB"/>
              </a:defRPr>
            </a:pPr>
            <a:r>
              <a:rPr sz="2250" b="0">
                <a:solidFill>
                  <a:srgbClr val="252528"/>
                </a:solidFill>
                <a:latin typeface="DFKai-SB"/>
                <a:ea typeface="DFKai-SB"/>
                <a:cs typeface="DFKai-SB"/>
              </a:rPr>
              <a:t>常見條列式</a:t>
            </a:r>
          </a:p>
        </p:txBody>
      </p:sp>
      <p:sp>
        <p:nvSpPr>
          <p:cNvPr id="5" name="">
            <a:extLst xmlns:a="http://schemas.openxmlformats.org/drawingml/2006/main">
              <a:ext uri="{FF2B5EF4-FFF2-40B4-BE49-F238E27FC236}">
                <a16:creationId xmlns:a16="http://schemas.microsoft.com/office/drawing/2014/main" id="{61E92949-4E16-4F9A-8EB5-48AB213937BA}"/>
              </a:ext>
            </a:extLst>
          </p:cNvPr>
          <p:cNvSpPr>
            <a:spLocks xmlns:a="http://schemas.openxmlformats.org/drawingml/2006/main" noGrp="1"/>
          </p:cNvSpPr>
          <p:nvPr/>
        </p:nvSpPr>
        <p:spPr>
          <a:xfrm xmlns:a="http://schemas.openxmlformats.org/drawingml/2006/main">
            <a:off x="3514725" y="1828800"/>
            <a:ext cx="230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0">
                <a:solidFill>
                  <a:srgbClr val="252528"/>
                </a:solidFill>
                <a:latin typeface="DFKai-SB"/>
                <a:ea typeface="DFKai-SB"/>
                <a:cs typeface="DFKai-SB"/>
              </a:defRPr>
            </a:pPr>
            <a:r>
              <a:rPr sz="2250" b="0">
                <a:solidFill>
                  <a:srgbClr val="252528"/>
                </a:solidFill>
                <a:latin typeface="DFKai-SB"/>
                <a:ea typeface="DFKai-SB"/>
                <a:cs typeface="DFKai-SB"/>
              </a:rPr>
              <a:t>主張—證據式</a:t>
            </a:r>
          </a:p>
        </p:txBody>
      </p:sp>
      <p:sp>
        <p:nvSpPr>
          <p:cNvPr id="6" name="">
            <a:extLst xmlns:a="http://schemas.openxmlformats.org/drawingml/2006/main">
              <a:ext uri="{FF2B5EF4-FFF2-40B4-BE49-F238E27FC236}">
                <a16:creationId xmlns:a16="http://schemas.microsoft.com/office/drawing/2014/main" id="{6FA7B5CB-0F57-4A51-8307-47DC2C397E5A}"/>
              </a:ext>
            </a:extLst>
          </p:cNvPr>
          <p:cNvSpPr>
            <a:spLocks xmlns:a="http://schemas.openxmlformats.org/drawingml/2006/main" noGrp="1"/>
          </p:cNvSpPr>
          <p:nvPr/>
        </p:nvSpPr>
        <p:spPr>
          <a:xfrm xmlns:a="http://schemas.openxmlformats.org/drawingml/2006/main">
            <a:off x="6924675" y="2286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0">
                <a:solidFill>
                  <a:srgbClr val="252528"/>
                </a:solidFill>
                <a:latin typeface="DFKai-SB"/>
                <a:ea typeface="DFKai-SB"/>
                <a:cs typeface="DFKai-SB"/>
              </a:defRPr>
            </a:pPr>
            <a:r>
              <a:rPr sz="2925" b="0">
                <a:solidFill>
                  <a:srgbClr val="252528"/>
                </a:solidFill>
                <a:latin typeface="DFKai-SB"/>
                <a:ea typeface="DFKai-SB"/>
                <a:cs typeface="DFKai-SB"/>
              </a:rPr>
              <a:t>內容理解較佳</a:t>
            </a:r>
          </a:p>
        </p:txBody>
      </p:sp>
      <p:sp>
        <p:nvSpPr>
          <p:cNvPr id="7" name="">
            <a:extLst xmlns:a="http://schemas.openxmlformats.org/drawingml/2006/main">
              <a:ext uri="{FF2B5EF4-FFF2-40B4-BE49-F238E27FC236}">
                <a16:creationId xmlns:a16="http://schemas.microsoft.com/office/drawing/2014/main" id="{8CFA6B99-1284-4BA8-8119-6DA7968CFEBB}"/>
              </a:ext>
            </a:extLst>
          </p:cNvPr>
          <p:cNvSpPr>
            <a:spLocks xmlns:a="http://schemas.openxmlformats.org/drawingml/2006/main" noGrp="1"/>
          </p:cNvSpPr>
          <p:nvPr/>
        </p:nvSpPr>
        <p:spPr>
          <a:xfrm xmlns:a="http://schemas.openxmlformats.org/drawingml/2006/main">
            <a:off x="6924675" y="33813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0">
                <a:solidFill>
                  <a:srgbClr val="252528"/>
                </a:solidFill>
                <a:latin typeface="DFKai-SB"/>
                <a:ea typeface="DFKai-SB"/>
                <a:cs typeface="DFKai-SB"/>
              </a:defRPr>
            </a:pPr>
            <a:r>
              <a:rPr sz="2925" b="0">
                <a:solidFill>
                  <a:srgbClr val="252528"/>
                </a:solidFill>
                <a:latin typeface="DFKai-SB"/>
                <a:ea typeface="DFKai-SB"/>
                <a:cs typeface="DFKai-SB"/>
              </a:rPr>
              <a:t>錯誤概念較少</a:t>
            </a:r>
          </a:p>
        </p:txBody>
      </p:sp>
      <p:sp>
        <p:nvSpPr>
          <p:cNvPr id="8" name="">
            <a:extLst xmlns:a="http://schemas.openxmlformats.org/drawingml/2006/main">
              <a:ext uri="{FF2B5EF4-FFF2-40B4-BE49-F238E27FC236}">
                <a16:creationId xmlns:a16="http://schemas.microsoft.com/office/drawing/2014/main" id="{48F39FD9-09F0-4180-99E7-A98E2517F83F}"/>
              </a:ext>
            </a:extLst>
          </p:cNvPr>
          <p:cNvSpPr>
            <a:spLocks xmlns:a="http://schemas.openxmlformats.org/drawingml/2006/main" noGrp="1"/>
          </p:cNvSpPr>
          <p:nvPr/>
        </p:nvSpPr>
        <p:spPr>
          <a:xfrm xmlns:a="http://schemas.openxmlformats.org/drawingml/2006/main">
            <a:off x="6819900" y="44767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0">
                <a:solidFill>
                  <a:srgbClr val="252528"/>
                </a:solidFill>
                <a:latin typeface="DFKai-SB"/>
                <a:ea typeface="DFKai-SB"/>
                <a:cs typeface="DFKai-SB"/>
              </a:defRPr>
            </a:pPr>
            <a:r>
              <a:rPr sz="2700" b="0">
                <a:solidFill>
                  <a:srgbClr val="252528"/>
                </a:solidFill>
                <a:latin typeface="DFKai-SB"/>
                <a:ea typeface="DFKai-SB"/>
                <a:cs typeface="DFKai-SB"/>
              </a:rPr>
              <a:t>自評認知負荷較低</a:t>
            </a:r>
          </a:p>
        </p:txBody>
      </p:sp>
      <p:sp>
        <p:nvSpPr>
          <p:cNvPr id="9" name="">
            <a:extLst xmlns:a="http://schemas.openxmlformats.org/drawingml/2006/main">
              <a:ext uri="{FF2B5EF4-FFF2-40B4-BE49-F238E27FC236}">
                <a16:creationId xmlns:a16="http://schemas.microsoft.com/office/drawing/2014/main" id="{367554E0-9500-40C5-AF33-5DAFDD2F6FA1}"/>
              </a:ext>
            </a:extLst>
          </p:cNvPr>
          <p:cNvSpPr>
            <a:spLocks xmlns:a="http://schemas.openxmlformats.org/drawingml/2006/main" noGrp="1"/>
          </p:cNvSpPr>
          <p:nvPr/>
        </p:nvSpPr>
        <p:spPr>
          <a:xfrm xmlns:a="http://schemas.openxmlformats.org/drawingml/2006/main">
            <a:off x="952500" y="54197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55555"/>
                </a:solidFill>
                <a:latin typeface="DFKai-SB"/>
                <a:ea typeface="DFKai-SB"/>
                <a:cs typeface="DFKai-SB"/>
              </a:defRPr>
            </a:pPr>
            <a:r>
              <a:rPr sz="1725" b="0">
                <a:solidFill>
                  <a:srgbClr val="555555"/>
                </a:solidFill>
                <a:latin typeface="DFKai-SB"/>
                <a:ea typeface="DFKai-SB"/>
                <a:cs typeface="DFKai-SB"/>
              </a:rPr>
              <a:t>示意圖，非研究數值</a:t>
            </a:r>
          </a:p>
        </p:txBody>
      </p:sp>
      <p:sp>
        <p:nvSpPr>
          <p:cNvPr id="10" name="">
            <a:extLst xmlns:a="http://schemas.openxmlformats.org/drawingml/2006/main">
              <a:ext uri="{FF2B5EF4-FFF2-40B4-BE49-F238E27FC236}">
                <a16:creationId xmlns:a16="http://schemas.microsoft.com/office/drawing/2014/main" id="{18358639-3EFC-4ACC-ACE1-7DEBB9237977}"/>
              </a:ext>
            </a:extLst>
          </p:cNvPr>
          <p:cNvSpPr>
            <a:spLocks xmlns:a="http://schemas.openxmlformats.org/drawingml/2006/main" noGrp="1"/>
          </p:cNvSpPr>
          <p:nvPr/>
        </p:nvSpPr>
        <p:spPr>
          <a:xfrm xmlns:a="http://schemas.openxmlformats.org/drawingml/2006/main">
            <a:off x="333375" y="617220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454545"/>
                </a:solidFill>
                <a:latin typeface="DFKai-SB"/>
                <a:ea typeface="DFKai-SB"/>
                <a:cs typeface="DFKai-SB"/>
              </a:defRPr>
            </a:pPr>
            <a:r>
              <a:rPr sz="1500" b="0">
                <a:solidFill>
                  <a:srgbClr val="454545"/>
                </a:solidFill>
                <a:latin typeface="DFKai-SB"/>
                <a:ea typeface="DFKai-SB"/>
                <a:cs typeface="DFKai-SB"/>
              </a:rPr>
              <a:t>圖像為示意；結果限於該研究情境，本頁未呈現效果量。</a:t>
            </a:r>
          </a:p>
        </p:txBody>
      </p:sp>
      <p:sp>
        <p:nvSpPr>
          <p:cNvPr id="11" name="">
            <a:extLst xmlns:a="http://schemas.openxmlformats.org/drawingml/2006/main">
              <a:ext uri="{FF2B5EF4-FFF2-40B4-BE49-F238E27FC236}">
                <a16:creationId xmlns:a16="http://schemas.microsoft.com/office/drawing/2014/main" id="{D53C95C0-8661-44DC-92A2-BD6EDC0494CB}"/>
              </a:ext>
            </a:extLst>
          </p:cNvPr>
          <p:cNvSpPr>
            <a:spLocks xmlns:a="http://schemas.openxmlformats.org/drawingml/2006/main" noGrp="1"/>
          </p:cNvSpPr>
          <p:nvPr/>
        </p:nvSpPr>
        <p:spPr>
          <a:xfrm xmlns:a="http://schemas.openxmlformats.org/drawingml/2006/main">
            <a:off x="333375" y="645795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454545"/>
                </a:solidFill>
                <a:latin typeface="DFKai-SB"/>
                <a:ea typeface="DFKai-SB"/>
                <a:cs typeface="DFKai-SB"/>
              </a:defRPr>
            </a:pPr>
            <a:r>
              <a:rPr sz="1425" b="0">
                <a:solidFill>
                  <a:srgbClr val="454545"/>
                </a:solidFill>
                <a:latin typeface="DFKai-SB"/>
                <a:ea typeface="DFKai-SB"/>
                <a:cs typeface="DFKai-SB"/>
              </a:rPr>
              <a:t>Garner &amp; Alley (2013), IJEE 29(6), 1564–1579</a:t>
            </a:r>
          </a:p>
        </p:txBody>
      </p:sp>
    </p:spTree>
    <p:extLst>
      <p:ext uri="{BB962C8B-B14F-4D97-AF65-F5344CB8AC3E}">
        <p14:creationId xmlns:p14="http://schemas.microsoft.com/office/powerpoint/2010/main" val="21352826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0b19b5dc77046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0EE5F7-39DA-46C6-AC9B-804F6E0A3BC2}"/>
              </a:ext>
            </a:extLst>
          </p:cNvPr>
          <p:cNvSpPr>
            <a:spLocks xmlns:a="http://schemas.openxmlformats.org/drawingml/2006/main" noGrp="1"/>
          </p:cNvSpPr>
          <p:nvPr/>
        </p:nvSpPr>
        <p:spPr>
          <a:xfrm xmlns:a="http://schemas.openxmlformats.org/drawingml/2006/main">
            <a:off x="323850" y="295275"/>
            <a:ext cx="1152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02D69"/>
                </a:solidFill>
                <a:latin typeface="Microsoft JhengHei"/>
                <a:ea typeface="Microsoft JhengHei"/>
                <a:cs typeface="Microsoft JhengHei"/>
              </a:defRPr>
            </a:pPr>
            <a:r>
              <a:rPr sz="3225" b="1">
                <a:solidFill>
                  <a:srgbClr val="102D69"/>
                </a:solidFill>
                <a:latin typeface="Microsoft JhengHei"/>
                <a:ea typeface="Microsoft JhengHei"/>
                <a:cs typeface="Microsoft JhengHei"/>
              </a:rPr>
              <a:t>研究顯示：主張—證據組理解較佳</a:t>
            </a:r>
          </a:p>
        </p:txBody>
      </p:sp>
      <p:sp>
        <p:nvSpPr>
          <p:cNvPr id="3" name="">
            <a:extLst xmlns:a="http://schemas.openxmlformats.org/drawingml/2006/main">
              <a:ext uri="{FF2B5EF4-FFF2-40B4-BE49-F238E27FC236}">
                <a16:creationId xmlns:a16="http://schemas.microsoft.com/office/drawing/2014/main" id="{2021F841-5A6C-4427-B31A-EF80E50C185D}"/>
              </a:ext>
            </a:extLst>
          </p:cNvPr>
          <p:cNvSpPr>
            <a:spLocks xmlns:a="http://schemas.openxmlformats.org/drawingml/2006/main" noGrp="1"/>
          </p:cNvSpPr>
          <p:nvPr/>
        </p:nvSpPr>
        <p:spPr>
          <a:xfrm xmlns:a="http://schemas.openxmlformats.org/drawingml/2006/main">
            <a:off x="390525" y="1495425"/>
            <a:ext cx="752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02D69"/>
                </a:solidFill>
                <a:latin typeface="Microsoft JhengHei"/>
                <a:ea typeface="Microsoft JhengHei"/>
                <a:cs typeface="Microsoft JhengHei"/>
              </a:defRPr>
            </a:pPr>
            <a:r>
              <a:rPr sz="2475" b="1">
                <a:solidFill>
                  <a:srgbClr val="102D69"/>
                </a:solidFill>
                <a:latin typeface="Microsoft JhengHei"/>
                <a:ea typeface="Microsoft JhengHei"/>
                <a:cs typeface="Microsoft JhengHei"/>
              </a:rPr>
              <a:t>110 位工程學生｜結果方向摘要</a:t>
            </a:r>
          </a:p>
        </p:txBody>
      </p:sp>
      <p:graphicFrame>
        <p:nvGraphicFramePr>
          <p:cNvPr id="12" name=""/>
          <p:cNvGraphicFramePr/>
          <p:nvPr/>
        </p:nvGraphicFramePr>
        <p:xfrm>
          <a:off xmlns:a="http://schemas.openxmlformats.org/drawingml/2006/main" x="400050" y="2209800"/>
          <a:ext xmlns:a="http://schemas.openxmlformats.org/drawingml/2006/main" cx="7581900" cy="3124200"/>
        </p:xfrm>
        <a:graphic xmlns:a="http://schemas.openxmlformats.org/drawingml/2006/main">
          <a:graphicData uri="http://schemas.openxmlformats.org/drawingml/2006/table">
            <a:tbl>
              <a:tblPr/>
              <a:tblGrid>
                <a:gridCol w="3267075"/>
                <a:gridCol w="4314825"/>
              </a:tblGrid>
              <a:tr h="781050">
                <a:tc>
                  <a:txBody>
                    <a:bodyPr/>
                    <a:lstStyle/>
                    <a:p>
                      <a:r>
                        <a:rPr sz="2250" b="1">
                          <a:solidFill>
                            <a:srgbClr val="FFFFFF"/>
                          </a:solidFill>
                          <a:latin typeface="Microsoft JhengHei"/>
                          <a:ea typeface="Microsoft JhengHei"/>
                          <a:cs typeface="Microsoft JhengHei"/>
                        </a:rPr>
                        <a:t>比較指標</a:t>
                      </a:r>
                    </a:p>
                  </a:txBody>
                  <a:tcPr marL="91440" marR="91440" marT="45720" marB="45720">
                    <a:solidFill>
                      <a:srgbClr val="102D69"/>
                    </a:solidFill>
                  </a:tcPr>
                </a:tc>
                <a:tc>
                  <a:txBody>
                    <a:bodyPr/>
                    <a:lstStyle/>
                    <a:p>
                      <a:r>
                        <a:rPr sz="2250" b="1">
                          <a:solidFill>
                            <a:srgbClr val="FFFFFF"/>
                          </a:solidFill>
                          <a:latin typeface="Microsoft JhengHei"/>
                          <a:ea typeface="Microsoft JhengHei"/>
                          <a:cs typeface="Microsoft JhengHei"/>
                        </a:rPr>
                        <a:t>主張—證據組</a:t>
                      </a:r>
                    </a:p>
                  </a:txBody>
                  <a:tcPr marL="91440" marR="91440" marT="45720" marB="45720">
                    <a:solidFill>
                      <a:srgbClr val="102D69"/>
                    </a:solidFill>
                  </a:tcPr>
                </a:tc>
              </a:tr>
              <a:tr h="781050">
                <a:tc>
                  <a:txBody>
                    <a:bodyPr/>
                    <a:lstStyle/>
                    <a:p>
                      <a:r>
                        <a:rPr sz="2250" b="0">
                          <a:solidFill>
                            <a:srgbClr val="102D69"/>
                          </a:solidFill>
                          <a:latin typeface="Microsoft JhengHei"/>
                          <a:ea typeface="Microsoft JhengHei"/>
                          <a:cs typeface="Microsoft JhengHei"/>
                        </a:rPr>
                        <a:t>內容理解</a:t>
                      </a:r>
                    </a:p>
                  </a:txBody>
                  <a:tcPr marL="91440" marR="91440" marT="45720" marB="45720">
                    <a:solidFill>
                      <a:srgbClr val="FFFFFF"/>
                    </a:solidFill>
                  </a:tcPr>
                </a:tc>
                <a:tc>
                  <a:txBody>
                    <a:bodyPr/>
                    <a:lstStyle/>
                    <a:p>
                      <a:r>
                        <a:rPr sz="2250" b="0">
                          <a:solidFill>
                            <a:srgbClr val="102D69"/>
                          </a:solidFill>
                          <a:latin typeface="Microsoft JhengHei"/>
                          <a:ea typeface="Microsoft JhengHei"/>
                          <a:cs typeface="Microsoft JhengHei"/>
                        </a:rPr>
                        <a:t>較佳</a:t>
                      </a:r>
                    </a:p>
                  </a:txBody>
                  <a:tcPr marL="91440" marR="91440" marT="45720" marB="45720">
                    <a:solidFill>
                      <a:srgbClr val="FFFFFF"/>
                    </a:solidFill>
                  </a:tcPr>
                </a:tc>
              </a:tr>
              <a:tr h="781050">
                <a:tc>
                  <a:txBody>
                    <a:bodyPr/>
                    <a:lstStyle/>
                    <a:p>
                      <a:r>
                        <a:rPr sz="2250" b="0">
                          <a:solidFill>
                            <a:srgbClr val="102D69"/>
                          </a:solidFill>
                          <a:latin typeface="Microsoft JhengHei"/>
                          <a:ea typeface="Microsoft JhengHei"/>
                          <a:cs typeface="Microsoft JhengHei"/>
                        </a:rPr>
                        <a:t>錯誤概念</a:t>
                      </a:r>
                    </a:p>
                  </a:txBody>
                  <a:tcPr marL="91440" marR="91440" marT="45720" marB="45720">
                    <a:solidFill>
                      <a:srgbClr val="F1F5FC"/>
                    </a:solidFill>
                  </a:tcPr>
                </a:tc>
                <a:tc>
                  <a:txBody>
                    <a:bodyPr/>
                    <a:lstStyle/>
                    <a:p>
                      <a:r>
                        <a:rPr sz="2250" b="0">
                          <a:solidFill>
                            <a:srgbClr val="102D69"/>
                          </a:solidFill>
                          <a:latin typeface="Microsoft JhengHei"/>
                          <a:ea typeface="Microsoft JhengHei"/>
                          <a:cs typeface="Microsoft JhengHei"/>
                        </a:rPr>
                        <a:t>較少</a:t>
                      </a:r>
                    </a:p>
                  </a:txBody>
                  <a:tcPr marL="91440" marR="91440" marT="45720" marB="45720">
                    <a:solidFill>
                      <a:srgbClr val="F1F5FC"/>
                    </a:solidFill>
                  </a:tcPr>
                </a:tc>
              </a:tr>
              <a:tr h="781050">
                <a:tc>
                  <a:txBody>
                    <a:bodyPr/>
                    <a:lstStyle/>
                    <a:p>
                      <a:r>
                        <a:rPr sz="2250" b="0">
                          <a:solidFill>
                            <a:srgbClr val="102D69"/>
                          </a:solidFill>
                          <a:latin typeface="Microsoft JhengHei"/>
                          <a:ea typeface="Microsoft JhengHei"/>
                          <a:cs typeface="Microsoft JhengHei"/>
                        </a:rPr>
                        <a:t>自評認知負荷</a:t>
                      </a:r>
                    </a:p>
                  </a:txBody>
                  <a:tcPr marL="91440" marR="91440" marT="45720" marB="45720">
                    <a:solidFill>
                      <a:srgbClr val="FFFFFF"/>
                    </a:solidFill>
                  </a:tcPr>
                </a:tc>
                <a:tc>
                  <a:txBody>
                    <a:bodyPr/>
                    <a:lstStyle/>
                    <a:p>
                      <a:r>
                        <a:rPr sz="2250" b="0">
                          <a:solidFill>
                            <a:srgbClr val="102D69"/>
                          </a:solidFill>
                          <a:latin typeface="Microsoft JhengHei"/>
                          <a:ea typeface="Microsoft JhengHei"/>
                          <a:cs typeface="Microsoft JhengHei"/>
                        </a:rPr>
                        <a:t>較低</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1FB2D4-1650-4B61-A2CE-27B13DCD7DD3}"/>
              </a:ext>
            </a:extLst>
          </p:cNvPr>
          <p:cNvSpPr>
            <a:spLocks xmlns:a="http://schemas.openxmlformats.org/drawingml/2006/main" noGrp="1"/>
          </p:cNvSpPr>
          <p:nvPr/>
        </p:nvSpPr>
        <p:spPr>
          <a:xfrm xmlns:a="http://schemas.openxmlformats.org/drawingml/2006/main">
            <a:off x="8715375" y="1504950"/>
            <a:ext cx="3067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102D69"/>
                </a:solidFill>
                <a:latin typeface="Microsoft JhengHei"/>
                <a:ea typeface="Microsoft JhengHei"/>
                <a:cs typeface="Microsoft JhengHei"/>
              </a:defRPr>
            </a:pPr>
            <a:r>
              <a:rPr sz="2175" b="1">
                <a:solidFill>
                  <a:srgbClr val="102D69"/>
                </a:solidFill>
                <a:latin typeface="Microsoft JhengHei"/>
                <a:ea typeface="Microsoft JhengHei"/>
                <a:cs typeface="Microsoft JhengHei"/>
              </a:rPr>
              <a:t>投影片結構比較</a:t>
            </a:r>
          </a:p>
        </p:txBody>
      </p:sp>
      <p:sp>
        <p:nvSpPr>
          <p:cNvPr id="6" name="">
            <a:extLst xmlns:a="http://schemas.openxmlformats.org/drawingml/2006/main">
              <a:ext uri="{FF2B5EF4-FFF2-40B4-BE49-F238E27FC236}">
                <a16:creationId xmlns:a16="http://schemas.microsoft.com/office/drawing/2014/main" id="{E48F781A-35CC-4260-9030-C5240B1AF9F6}"/>
              </a:ext>
            </a:extLst>
          </p:cNvPr>
          <p:cNvSpPr>
            <a:spLocks xmlns:a="http://schemas.openxmlformats.org/drawingml/2006/main" noGrp="1"/>
          </p:cNvSpPr>
          <p:nvPr/>
        </p:nvSpPr>
        <p:spPr>
          <a:xfrm xmlns:a="http://schemas.openxmlformats.org/drawingml/2006/main">
            <a:off x="8639175" y="5581650"/>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0">
                <a:solidFill>
                  <a:srgbClr val="405373"/>
                </a:solidFill>
                <a:latin typeface="Microsoft JhengHei"/>
                <a:ea typeface="Microsoft JhengHei"/>
                <a:cs typeface="Microsoft JhengHei"/>
              </a:defRPr>
            </a:pPr>
            <a:r>
              <a:rPr sz="1650" b="0">
                <a:solidFill>
                  <a:srgbClr val="405373"/>
                </a:solidFill>
                <a:latin typeface="Microsoft JhengHei"/>
                <a:ea typeface="Microsoft JhengHei"/>
                <a:cs typeface="Microsoft JhengHei"/>
              </a:rPr>
              <a:t>示意圖，非研究數值</a:t>
            </a:r>
          </a:p>
        </p:txBody>
      </p:sp>
      <p:sp>
        <p:nvSpPr>
          <p:cNvPr id="7" name="">
            <a:extLst xmlns:a="http://schemas.openxmlformats.org/drawingml/2006/main">
              <a:ext uri="{FF2B5EF4-FFF2-40B4-BE49-F238E27FC236}">
                <a16:creationId xmlns:a16="http://schemas.microsoft.com/office/drawing/2014/main" id="{6CD38FB2-40BF-4451-B89B-820CD03F995D}"/>
              </a:ext>
            </a:extLst>
          </p:cNvPr>
          <p:cNvSpPr>
            <a:spLocks xmlns:a="http://schemas.openxmlformats.org/drawingml/2006/main" noGrp="1"/>
          </p:cNvSpPr>
          <p:nvPr/>
        </p:nvSpPr>
        <p:spPr>
          <a:xfrm xmlns:a="http://schemas.openxmlformats.org/drawingml/2006/main">
            <a:off x="333375" y="617220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454545"/>
                </a:solidFill>
                <a:latin typeface="Microsoft JhengHei"/>
                <a:ea typeface="Microsoft JhengHei"/>
                <a:cs typeface="Microsoft JhengHei"/>
              </a:defRPr>
            </a:pPr>
            <a:r>
              <a:rPr sz="1500" b="0">
                <a:solidFill>
                  <a:srgbClr val="454545"/>
                </a:solidFill>
                <a:latin typeface="Microsoft JhengHei"/>
                <a:ea typeface="Microsoft JhengHei"/>
                <a:cs typeface="Microsoft JhengHei"/>
              </a:rPr>
              <a:t>圖像為示意；結果限於該研究情境，本頁未呈現效果量。</a:t>
            </a:r>
          </a:p>
        </p:txBody>
      </p:sp>
      <p:sp>
        <p:nvSpPr>
          <p:cNvPr id="8" name="">
            <a:extLst xmlns:a="http://schemas.openxmlformats.org/drawingml/2006/main">
              <a:ext uri="{FF2B5EF4-FFF2-40B4-BE49-F238E27FC236}">
                <a16:creationId xmlns:a16="http://schemas.microsoft.com/office/drawing/2014/main" id="{42A62A14-182B-4941-B064-86B1CD9F94F1}"/>
              </a:ext>
            </a:extLst>
          </p:cNvPr>
          <p:cNvSpPr>
            <a:spLocks xmlns:a="http://schemas.openxmlformats.org/drawingml/2006/main" noGrp="1"/>
          </p:cNvSpPr>
          <p:nvPr/>
        </p:nvSpPr>
        <p:spPr>
          <a:xfrm xmlns:a="http://schemas.openxmlformats.org/drawingml/2006/main">
            <a:off x="333375" y="645795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454545"/>
                </a:solidFill>
                <a:latin typeface="Microsoft JhengHei"/>
                <a:ea typeface="Microsoft JhengHei"/>
                <a:cs typeface="Microsoft JhengHei"/>
              </a:defRPr>
            </a:pPr>
            <a:r>
              <a:rPr sz="1425" b="0">
                <a:solidFill>
                  <a:srgbClr val="454545"/>
                </a:solidFill>
                <a:latin typeface="Microsoft JhengHei"/>
                <a:ea typeface="Microsoft JhengHei"/>
                <a:cs typeface="Microsoft JhengHei"/>
              </a:rPr>
              <a:t>Garner &amp; Alley (2013), IJEE 29(6), 1564–1579</a:t>
            </a:r>
          </a:p>
        </p:txBody>
      </p:sp>
    </p:spTree>
    <p:extLst>
      <p:ext uri="{BB962C8B-B14F-4D97-AF65-F5344CB8AC3E}">
        <p14:creationId xmlns:p14="http://schemas.microsoft.com/office/powerpoint/2010/main" val="15361220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964543fac745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92BEF8-E133-4B86-8B05-966CD9BCA9A6}"/>
              </a:ext>
            </a:extLst>
          </p:cNvPr>
          <p:cNvSpPr>
            <a:spLocks xmlns:a="http://schemas.openxmlformats.org/drawingml/2006/main" noGrp="1"/>
          </p:cNvSpPr>
          <p:nvPr/>
        </p:nvSpPr>
        <p:spPr>
          <a:xfrm xmlns:a="http://schemas.openxmlformats.org/drawingml/2006/main">
            <a:off x="428625" y="1228725"/>
            <a:ext cx="5476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252528"/>
                </a:solidFill>
                <a:latin typeface="Microsoft JhengHei"/>
                <a:ea typeface="Microsoft JhengHei"/>
                <a:cs typeface="Microsoft JhengHei"/>
              </a:defRPr>
            </a:pPr>
            <a:r>
              <a:rPr sz="4275" b="1">
                <a:solidFill>
                  <a:srgbClr val="252528"/>
                </a:solidFill>
                <a:latin typeface="Microsoft JhengHei"/>
                <a:ea typeface="Microsoft JhengHei"/>
                <a:cs typeface="Microsoft JhengHei"/>
              </a:rPr>
              <a:t>主張—證據組</a:t>
            </a:r>
          </a:p>
        </p:txBody>
      </p:sp>
      <p:sp>
        <p:nvSpPr>
          <p:cNvPr id="3" name="">
            <a:extLst xmlns:a="http://schemas.openxmlformats.org/drawingml/2006/main">
              <a:ext uri="{FF2B5EF4-FFF2-40B4-BE49-F238E27FC236}">
                <a16:creationId xmlns:a16="http://schemas.microsoft.com/office/drawing/2014/main" id="{A6E47EA5-CF61-4E79-88C4-FE6BFF572EFA}"/>
              </a:ext>
            </a:extLst>
          </p:cNvPr>
          <p:cNvSpPr>
            <a:spLocks xmlns:a="http://schemas.openxmlformats.org/drawingml/2006/main" noGrp="1"/>
          </p:cNvSpPr>
          <p:nvPr/>
        </p:nvSpPr>
        <p:spPr>
          <a:xfrm xmlns:a="http://schemas.openxmlformats.org/drawingml/2006/main">
            <a:off x="428625" y="2047875"/>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250" b="1">
                <a:solidFill>
                  <a:srgbClr val="ED1765"/>
                </a:solidFill>
                <a:latin typeface="Microsoft JhengHei"/>
                <a:ea typeface="Microsoft JhengHei"/>
                <a:cs typeface="Microsoft JhengHei"/>
              </a:defRPr>
            </a:pPr>
            <a:r>
              <a:rPr sz="5250" b="1">
                <a:solidFill>
                  <a:srgbClr val="ED1765"/>
                </a:solidFill>
                <a:latin typeface="Microsoft JhengHei"/>
                <a:ea typeface="Microsoft JhengHei"/>
                <a:cs typeface="Microsoft JhengHei"/>
              </a:rPr>
              <a:t>理解較佳</a:t>
            </a:r>
          </a:p>
        </p:txBody>
      </p:sp>
      <p:sp>
        <p:nvSpPr>
          <p:cNvPr id="4" name="">
            <a:extLst xmlns:a="http://schemas.openxmlformats.org/drawingml/2006/main">
              <a:ext uri="{FF2B5EF4-FFF2-40B4-BE49-F238E27FC236}">
                <a16:creationId xmlns:a16="http://schemas.microsoft.com/office/drawing/2014/main" id="{E2013411-6174-43EA-AB9B-2C6DEB4591CF}"/>
              </a:ext>
            </a:extLst>
          </p:cNvPr>
          <p:cNvSpPr>
            <a:spLocks xmlns:a="http://schemas.openxmlformats.org/drawingml/2006/main" noGrp="1"/>
          </p:cNvSpPr>
          <p:nvPr/>
        </p:nvSpPr>
        <p:spPr>
          <a:xfrm xmlns:a="http://schemas.openxmlformats.org/drawingml/2006/main">
            <a:off x="457200" y="30384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52528"/>
                </a:solidFill>
                <a:latin typeface="Microsoft JhengHei"/>
                <a:ea typeface="Microsoft JhengHei"/>
                <a:cs typeface="Microsoft JhengHei"/>
              </a:defRPr>
            </a:pPr>
            <a:r>
              <a:rPr sz="2100" b="0">
                <a:solidFill>
                  <a:srgbClr val="252528"/>
                </a:solidFill>
                <a:latin typeface="Microsoft JhengHei"/>
                <a:ea typeface="Microsoft JhengHei"/>
                <a:cs typeface="Microsoft JhengHei"/>
              </a:rPr>
              <a:t>110 位工程學生的比較研究</a:t>
            </a:r>
          </a:p>
        </p:txBody>
      </p:sp>
      <p:sp>
        <p:nvSpPr>
          <p:cNvPr id="5" name="">
            <a:extLst xmlns:a="http://schemas.openxmlformats.org/drawingml/2006/main">
              <a:ext uri="{FF2B5EF4-FFF2-40B4-BE49-F238E27FC236}">
                <a16:creationId xmlns:a16="http://schemas.microsoft.com/office/drawing/2014/main" id="{0BEC7692-CFE4-4A26-BB89-4B611CB1C0B0}"/>
              </a:ext>
            </a:extLst>
          </p:cNvPr>
          <p:cNvSpPr>
            <a:spLocks xmlns:a="http://schemas.openxmlformats.org/drawingml/2006/main" noGrp="1"/>
          </p:cNvSpPr>
          <p:nvPr/>
        </p:nvSpPr>
        <p:spPr>
          <a:xfrm xmlns:a="http://schemas.openxmlformats.org/drawingml/2006/main">
            <a:off x="6686550" y="11334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52528"/>
                </a:solidFill>
                <a:latin typeface="Microsoft JhengHei"/>
                <a:ea typeface="Microsoft JhengHei"/>
                <a:cs typeface="Microsoft JhengHei"/>
              </a:defRPr>
            </a:pPr>
            <a:r>
              <a:rPr sz="2400" b="1">
                <a:solidFill>
                  <a:srgbClr val="252528"/>
                </a:solidFill>
                <a:latin typeface="Microsoft JhengHei"/>
                <a:ea typeface="Microsoft JhengHei"/>
                <a:cs typeface="Microsoft JhengHei"/>
              </a:rPr>
              <a:t>內容理解</a:t>
            </a:r>
          </a:p>
        </p:txBody>
      </p:sp>
      <p:sp>
        <p:nvSpPr>
          <p:cNvPr id="6" name="">
            <a:extLst xmlns:a="http://schemas.openxmlformats.org/drawingml/2006/main">
              <a:ext uri="{FF2B5EF4-FFF2-40B4-BE49-F238E27FC236}">
                <a16:creationId xmlns:a16="http://schemas.microsoft.com/office/drawing/2014/main" id="{04D177B1-2A79-4877-A0D9-1B136C91CC69}"/>
              </a:ext>
            </a:extLst>
          </p:cNvPr>
          <p:cNvSpPr>
            <a:spLocks xmlns:a="http://schemas.openxmlformats.org/drawingml/2006/main" noGrp="1"/>
          </p:cNvSpPr>
          <p:nvPr/>
        </p:nvSpPr>
        <p:spPr>
          <a:xfrm xmlns:a="http://schemas.openxmlformats.org/drawingml/2006/main">
            <a:off x="6724650" y="16097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ED1765"/>
                </a:solidFill>
                <a:latin typeface="Microsoft JhengHei"/>
                <a:ea typeface="Microsoft JhengHei"/>
                <a:cs typeface="Microsoft JhengHei"/>
              </a:defRPr>
            </a:pPr>
            <a:r>
              <a:rPr sz="3900" b="1">
                <a:solidFill>
                  <a:srgbClr val="ED1765"/>
                </a:solidFill>
                <a:latin typeface="Microsoft JhengHei"/>
                <a:ea typeface="Microsoft JhengHei"/>
                <a:cs typeface="Microsoft JhengHei"/>
              </a:rPr>
              <a:t>較佳</a:t>
            </a:r>
          </a:p>
        </p:txBody>
      </p:sp>
      <p:sp>
        <p:nvSpPr>
          <p:cNvPr id="7" name="">
            <a:extLst xmlns:a="http://schemas.openxmlformats.org/drawingml/2006/main">
              <a:ext uri="{FF2B5EF4-FFF2-40B4-BE49-F238E27FC236}">
                <a16:creationId xmlns:a16="http://schemas.microsoft.com/office/drawing/2014/main" id="{683422B7-7578-41F3-A0B0-7E8A3A966EE9}"/>
              </a:ext>
            </a:extLst>
          </p:cNvPr>
          <p:cNvSpPr>
            <a:spLocks xmlns:a="http://schemas.openxmlformats.org/drawingml/2006/main" noGrp="1"/>
          </p:cNvSpPr>
          <p:nvPr/>
        </p:nvSpPr>
        <p:spPr>
          <a:xfrm xmlns:a="http://schemas.openxmlformats.org/drawingml/2006/main">
            <a:off x="6686550" y="28479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52528"/>
                </a:solidFill>
                <a:latin typeface="Microsoft JhengHei"/>
                <a:ea typeface="Microsoft JhengHei"/>
                <a:cs typeface="Microsoft JhengHei"/>
              </a:defRPr>
            </a:pPr>
            <a:r>
              <a:rPr sz="2400" b="1">
                <a:solidFill>
                  <a:srgbClr val="252528"/>
                </a:solidFill>
                <a:latin typeface="Microsoft JhengHei"/>
                <a:ea typeface="Microsoft JhengHei"/>
                <a:cs typeface="Microsoft JhengHei"/>
              </a:rPr>
              <a:t>錯誤概念</a:t>
            </a:r>
          </a:p>
        </p:txBody>
      </p:sp>
      <p:sp>
        <p:nvSpPr>
          <p:cNvPr id="8" name="">
            <a:extLst xmlns:a="http://schemas.openxmlformats.org/drawingml/2006/main">
              <a:ext uri="{FF2B5EF4-FFF2-40B4-BE49-F238E27FC236}">
                <a16:creationId xmlns:a16="http://schemas.microsoft.com/office/drawing/2014/main" id="{4581475E-32F1-41AB-99E0-3A363FA58F22}"/>
              </a:ext>
            </a:extLst>
          </p:cNvPr>
          <p:cNvSpPr>
            <a:spLocks xmlns:a="http://schemas.openxmlformats.org/drawingml/2006/main" noGrp="1"/>
          </p:cNvSpPr>
          <p:nvPr/>
        </p:nvSpPr>
        <p:spPr>
          <a:xfrm xmlns:a="http://schemas.openxmlformats.org/drawingml/2006/main">
            <a:off x="6724650" y="33242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ED1765"/>
                </a:solidFill>
                <a:latin typeface="Microsoft JhengHei"/>
                <a:ea typeface="Microsoft JhengHei"/>
                <a:cs typeface="Microsoft JhengHei"/>
              </a:defRPr>
            </a:pPr>
            <a:r>
              <a:rPr sz="3900" b="1">
                <a:solidFill>
                  <a:srgbClr val="ED1765"/>
                </a:solidFill>
                <a:latin typeface="Microsoft JhengHei"/>
                <a:ea typeface="Microsoft JhengHei"/>
                <a:cs typeface="Microsoft JhengHei"/>
              </a:rPr>
              <a:t>較少</a:t>
            </a:r>
          </a:p>
        </p:txBody>
      </p:sp>
      <p:sp>
        <p:nvSpPr>
          <p:cNvPr id="9" name="">
            <a:extLst xmlns:a="http://schemas.openxmlformats.org/drawingml/2006/main">
              <a:ext uri="{FF2B5EF4-FFF2-40B4-BE49-F238E27FC236}">
                <a16:creationId xmlns:a16="http://schemas.microsoft.com/office/drawing/2014/main" id="{DF63A0C6-B0E8-414E-BAE1-6628274A6AB1}"/>
              </a:ext>
            </a:extLst>
          </p:cNvPr>
          <p:cNvSpPr>
            <a:spLocks xmlns:a="http://schemas.openxmlformats.org/drawingml/2006/main" noGrp="1"/>
          </p:cNvSpPr>
          <p:nvPr/>
        </p:nvSpPr>
        <p:spPr>
          <a:xfrm xmlns:a="http://schemas.openxmlformats.org/drawingml/2006/main">
            <a:off x="6686550" y="45624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52528"/>
                </a:solidFill>
                <a:latin typeface="Microsoft JhengHei"/>
                <a:ea typeface="Microsoft JhengHei"/>
                <a:cs typeface="Microsoft JhengHei"/>
              </a:defRPr>
            </a:pPr>
            <a:r>
              <a:rPr sz="2400" b="1">
                <a:solidFill>
                  <a:srgbClr val="252528"/>
                </a:solidFill>
                <a:latin typeface="Microsoft JhengHei"/>
                <a:ea typeface="Microsoft JhengHei"/>
                <a:cs typeface="Microsoft JhengHei"/>
              </a:rPr>
              <a:t>自評認知負荷</a:t>
            </a:r>
          </a:p>
        </p:txBody>
      </p:sp>
      <p:sp>
        <p:nvSpPr>
          <p:cNvPr id="10" name="">
            <a:extLst xmlns:a="http://schemas.openxmlformats.org/drawingml/2006/main">
              <a:ext uri="{FF2B5EF4-FFF2-40B4-BE49-F238E27FC236}">
                <a16:creationId xmlns:a16="http://schemas.microsoft.com/office/drawing/2014/main" id="{95AB5300-20BE-4ED5-98F1-AC936FD79465}"/>
              </a:ext>
            </a:extLst>
          </p:cNvPr>
          <p:cNvSpPr>
            <a:spLocks xmlns:a="http://schemas.openxmlformats.org/drawingml/2006/main" noGrp="1"/>
          </p:cNvSpPr>
          <p:nvPr/>
        </p:nvSpPr>
        <p:spPr>
          <a:xfrm xmlns:a="http://schemas.openxmlformats.org/drawingml/2006/main">
            <a:off x="6724650" y="50387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ED1765"/>
                </a:solidFill>
                <a:latin typeface="Microsoft JhengHei"/>
                <a:ea typeface="Microsoft JhengHei"/>
                <a:cs typeface="Microsoft JhengHei"/>
              </a:defRPr>
            </a:pPr>
            <a:r>
              <a:rPr sz="3900" b="1">
                <a:solidFill>
                  <a:srgbClr val="ED1765"/>
                </a:solidFill>
                <a:latin typeface="Microsoft JhengHei"/>
                <a:ea typeface="Microsoft JhengHei"/>
                <a:cs typeface="Microsoft JhengHei"/>
              </a:rPr>
              <a:t>較低</a:t>
            </a:r>
          </a:p>
        </p:txBody>
      </p:sp>
      <p:sp>
        <p:nvSpPr>
          <p:cNvPr id="11" name="">
            <a:extLst xmlns:a="http://schemas.openxmlformats.org/drawingml/2006/main">
              <a:ext uri="{FF2B5EF4-FFF2-40B4-BE49-F238E27FC236}">
                <a16:creationId xmlns:a16="http://schemas.microsoft.com/office/drawing/2014/main" id="{6B55D9B9-8C3D-41F7-A1B1-44A08663ABDF}"/>
              </a:ext>
            </a:extLst>
          </p:cNvPr>
          <p:cNvSpPr>
            <a:spLocks xmlns:a="http://schemas.openxmlformats.org/drawingml/2006/main" noGrp="1"/>
          </p:cNvSpPr>
          <p:nvPr/>
        </p:nvSpPr>
        <p:spPr>
          <a:xfrm xmlns:a="http://schemas.openxmlformats.org/drawingml/2006/main">
            <a:off x="333375" y="617220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454545"/>
                </a:solidFill>
                <a:latin typeface="Microsoft JhengHei"/>
                <a:ea typeface="Microsoft JhengHei"/>
                <a:cs typeface="Microsoft JhengHei"/>
              </a:defRPr>
            </a:pPr>
            <a:r>
              <a:rPr sz="1500" b="0">
                <a:solidFill>
                  <a:srgbClr val="454545"/>
                </a:solidFill>
                <a:latin typeface="Microsoft JhengHei"/>
                <a:ea typeface="Microsoft JhengHei"/>
                <a:cs typeface="Microsoft JhengHei"/>
              </a:rPr>
              <a:t>圖像為示意；結果限於該研究情境，本頁未呈現效果量。</a:t>
            </a:r>
          </a:p>
        </p:txBody>
      </p:sp>
      <p:sp>
        <p:nvSpPr>
          <p:cNvPr id="12" name="">
            <a:extLst xmlns:a="http://schemas.openxmlformats.org/drawingml/2006/main">
              <a:ext uri="{FF2B5EF4-FFF2-40B4-BE49-F238E27FC236}">
                <a16:creationId xmlns:a16="http://schemas.microsoft.com/office/drawing/2014/main" id="{33B26CBC-5FE5-45E2-B1E7-24BE56A5D1AB}"/>
              </a:ext>
            </a:extLst>
          </p:cNvPr>
          <p:cNvSpPr>
            <a:spLocks xmlns:a="http://schemas.openxmlformats.org/drawingml/2006/main" noGrp="1"/>
          </p:cNvSpPr>
          <p:nvPr/>
        </p:nvSpPr>
        <p:spPr>
          <a:xfrm xmlns:a="http://schemas.openxmlformats.org/drawingml/2006/main">
            <a:off x="333375" y="645795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454545"/>
                </a:solidFill>
                <a:latin typeface="Microsoft JhengHei"/>
                <a:ea typeface="Microsoft JhengHei"/>
                <a:cs typeface="Microsoft JhengHei"/>
              </a:defRPr>
            </a:pPr>
            <a:r>
              <a:rPr sz="1425" b="0">
                <a:solidFill>
                  <a:srgbClr val="454545"/>
                </a:solidFill>
                <a:latin typeface="Microsoft JhengHei"/>
                <a:ea typeface="Microsoft JhengHei"/>
                <a:cs typeface="Microsoft JhengHei"/>
              </a:rPr>
              <a:t>Garner &amp; Alley (2013), IJEE 29(6), 1564–1579</a:t>
            </a:r>
          </a:p>
        </p:txBody>
      </p:sp>
    </p:spTree>
    <p:extLst>
      <p:ext uri="{BB962C8B-B14F-4D97-AF65-F5344CB8AC3E}">
        <p14:creationId xmlns:p14="http://schemas.microsoft.com/office/powerpoint/2010/main" val="211540088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78e9392bca74b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690434-A9AA-48F7-90B3-89F2FAE5976A}"/>
              </a:ext>
            </a:extLst>
          </p:cNvPr>
          <p:cNvSpPr>
            <a:spLocks xmlns:a="http://schemas.openxmlformats.org/drawingml/2006/main" noGrp="1"/>
          </p:cNvSpPr>
          <p:nvPr/>
        </p:nvSpPr>
        <p:spPr>
          <a:xfrm xmlns:a="http://schemas.openxmlformats.org/drawingml/2006/main">
            <a:off x="762000" y="5238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675" b="1">
                <a:solidFill>
                  <a:srgbClr val="252528"/>
                </a:solidFill>
                <a:latin typeface="DFKai-SB"/>
                <a:ea typeface="DFKai-SB"/>
                <a:cs typeface="DFKai-SB"/>
              </a:defRPr>
            </a:pPr>
            <a:r>
              <a:rPr sz="3675" b="1">
                <a:solidFill>
                  <a:srgbClr val="252528"/>
                </a:solidFill>
                <a:latin typeface="DFKai-SB"/>
                <a:ea typeface="DFKai-SB"/>
                <a:cs typeface="DFKai-SB"/>
              </a:rPr>
              <a:t>一頁一個主張，下面放證據</a:t>
            </a:r>
          </a:p>
        </p:txBody>
      </p:sp>
      <p:sp>
        <p:nvSpPr>
          <p:cNvPr id="3" name="">
            <a:extLst xmlns:a="http://schemas.openxmlformats.org/drawingml/2006/main">
              <a:ext uri="{FF2B5EF4-FFF2-40B4-BE49-F238E27FC236}">
                <a16:creationId xmlns:a16="http://schemas.microsoft.com/office/drawing/2014/main" id="{9608810B-EC00-41DF-8433-F4C5CB61E3B3}"/>
              </a:ext>
            </a:extLst>
          </p:cNvPr>
          <p:cNvSpPr>
            <a:spLocks xmlns:a="http://schemas.openxmlformats.org/drawingml/2006/main" noGrp="1"/>
          </p:cNvSpPr>
          <p:nvPr/>
        </p:nvSpPr>
        <p:spPr>
          <a:xfrm xmlns:a="http://schemas.openxmlformats.org/drawingml/2006/main">
            <a:off x="771525" y="181927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75" b="0">
                <a:solidFill>
                  <a:srgbClr val="252528"/>
                </a:solidFill>
                <a:latin typeface="DFKai-SB"/>
                <a:ea typeface="DFKai-SB"/>
                <a:cs typeface="DFKai-SB"/>
              </a:defRPr>
            </a:pPr>
            <a:r>
              <a:rPr sz="2775" b="0">
                <a:solidFill>
                  <a:srgbClr val="252528"/>
                </a:solidFill>
                <a:latin typeface="DFKai-SB"/>
                <a:ea typeface="DFKai-SB"/>
                <a:cs typeface="DFKai-SB"/>
              </a:rPr>
              <a:t>寫主張</a:t>
            </a:r>
          </a:p>
        </p:txBody>
      </p:sp>
      <p:sp>
        <p:nvSpPr>
          <p:cNvPr id="4" name="">
            <a:extLst xmlns:a="http://schemas.openxmlformats.org/drawingml/2006/main">
              <a:ext uri="{FF2B5EF4-FFF2-40B4-BE49-F238E27FC236}">
                <a16:creationId xmlns:a16="http://schemas.microsoft.com/office/drawing/2014/main" id="{76E4C256-9CD4-41C8-B702-431F4CC2FDF4}"/>
              </a:ext>
            </a:extLst>
          </p:cNvPr>
          <p:cNvSpPr>
            <a:spLocks xmlns:a="http://schemas.openxmlformats.org/drawingml/2006/main" noGrp="1"/>
          </p:cNvSpPr>
          <p:nvPr/>
        </p:nvSpPr>
        <p:spPr>
          <a:xfrm xmlns:a="http://schemas.openxmlformats.org/drawingml/2006/main">
            <a:off x="4857750" y="181927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75" b="0">
                <a:solidFill>
                  <a:srgbClr val="252528"/>
                </a:solidFill>
                <a:latin typeface="DFKai-SB"/>
                <a:ea typeface="DFKai-SB"/>
                <a:cs typeface="DFKai-SB"/>
              </a:defRPr>
            </a:pPr>
            <a:r>
              <a:rPr sz="2775" b="0">
                <a:solidFill>
                  <a:srgbClr val="252528"/>
                </a:solidFill>
                <a:latin typeface="DFKai-SB"/>
                <a:ea typeface="DFKai-SB"/>
                <a:cs typeface="DFKai-SB"/>
              </a:rPr>
              <a:t>挑證據</a:t>
            </a:r>
          </a:p>
        </p:txBody>
      </p:sp>
      <p:sp>
        <p:nvSpPr>
          <p:cNvPr id="5" name="">
            <a:extLst xmlns:a="http://schemas.openxmlformats.org/drawingml/2006/main">
              <a:ext uri="{FF2B5EF4-FFF2-40B4-BE49-F238E27FC236}">
                <a16:creationId xmlns:a16="http://schemas.microsoft.com/office/drawing/2014/main" id="{DB6EBB47-1B38-4CAF-8570-325FA794B760}"/>
              </a:ext>
            </a:extLst>
          </p:cNvPr>
          <p:cNvSpPr>
            <a:spLocks xmlns:a="http://schemas.openxmlformats.org/drawingml/2006/main" noGrp="1"/>
          </p:cNvSpPr>
          <p:nvPr/>
        </p:nvSpPr>
        <p:spPr>
          <a:xfrm xmlns:a="http://schemas.openxmlformats.org/drawingml/2006/main">
            <a:off x="8905875" y="181927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75" b="0">
                <a:solidFill>
                  <a:srgbClr val="252528"/>
                </a:solidFill>
                <a:latin typeface="DFKai-SB"/>
                <a:ea typeface="DFKai-SB"/>
                <a:cs typeface="DFKai-SB"/>
              </a:defRPr>
            </a:pPr>
            <a:r>
              <a:rPr sz="2775" b="0">
                <a:solidFill>
                  <a:srgbClr val="252528"/>
                </a:solidFill>
                <a:latin typeface="DFKai-SB"/>
                <a:ea typeface="DFKai-SB"/>
                <a:cs typeface="DFKai-SB"/>
              </a:rPr>
              <a:t>刪雜訊</a:t>
            </a:r>
          </a:p>
        </p:txBody>
      </p:sp>
      <p:sp>
        <p:nvSpPr>
          <p:cNvPr id="6" name="">
            <a:extLst xmlns:a="http://schemas.openxmlformats.org/drawingml/2006/main">
              <a:ext uri="{FF2B5EF4-FFF2-40B4-BE49-F238E27FC236}">
                <a16:creationId xmlns:a16="http://schemas.microsoft.com/office/drawing/2014/main" id="{B0FB5A7D-1ABC-40DD-9644-1D89CA2C84BA}"/>
              </a:ext>
            </a:extLst>
          </p:cNvPr>
          <p:cNvSpPr>
            <a:spLocks xmlns:a="http://schemas.openxmlformats.org/drawingml/2006/main" noGrp="1"/>
          </p:cNvSpPr>
          <p:nvPr/>
        </p:nvSpPr>
        <p:spPr>
          <a:xfrm xmlns:a="http://schemas.openxmlformats.org/drawingml/2006/main">
            <a:off x="152400" y="53054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252528"/>
                </a:solidFill>
                <a:latin typeface="DFKai-SB"/>
                <a:ea typeface="DFKai-SB"/>
                <a:cs typeface="DFKai-SB"/>
              </a:defRPr>
            </a:pPr>
            <a:r>
              <a:rPr sz="2025" b="0">
                <a:solidFill>
                  <a:srgbClr val="252528"/>
                </a:solidFill>
                <a:latin typeface="DFKai-SB"/>
                <a:ea typeface="DFKai-SB"/>
                <a:cs typeface="DFKai-SB"/>
              </a:rPr>
              <a:t>用一句話說明發現</a:t>
            </a:r>
          </a:p>
        </p:txBody>
      </p:sp>
      <p:sp>
        <p:nvSpPr>
          <p:cNvPr id="7" name="">
            <a:extLst xmlns:a="http://schemas.openxmlformats.org/drawingml/2006/main">
              <a:ext uri="{FF2B5EF4-FFF2-40B4-BE49-F238E27FC236}">
                <a16:creationId xmlns:a16="http://schemas.microsoft.com/office/drawing/2014/main" id="{DFDA2E1A-87B9-4312-9BDD-809515A210CD}"/>
              </a:ext>
            </a:extLst>
          </p:cNvPr>
          <p:cNvSpPr>
            <a:spLocks xmlns:a="http://schemas.openxmlformats.org/drawingml/2006/main" noGrp="1"/>
          </p:cNvSpPr>
          <p:nvPr/>
        </p:nvSpPr>
        <p:spPr>
          <a:xfrm xmlns:a="http://schemas.openxmlformats.org/drawingml/2006/main">
            <a:off x="4238625" y="53054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252528"/>
                </a:solidFill>
                <a:latin typeface="DFKai-SB"/>
                <a:ea typeface="DFKai-SB"/>
                <a:cs typeface="DFKai-SB"/>
              </a:defRPr>
            </a:pPr>
            <a:r>
              <a:rPr sz="2025" b="0">
                <a:solidFill>
                  <a:srgbClr val="252528"/>
                </a:solidFill>
                <a:latin typeface="DFKai-SB"/>
                <a:ea typeface="DFKai-SB"/>
                <a:cs typeface="DFKai-SB"/>
              </a:rPr>
              <a:t>用圖表或案例支持</a:t>
            </a:r>
          </a:p>
        </p:txBody>
      </p:sp>
      <p:sp>
        <p:nvSpPr>
          <p:cNvPr id="8" name="">
            <a:extLst xmlns:a="http://schemas.openxmlformats.org/drawingml/2006/main">
              <a:ext uri="{FF2B5EF4-FFF2-40B4-BE49-F238E27FC236}">
                <a16:creationId xmlns:a16="http://schemas.microsoft.com/office/drawing/2014/main" id="{97F90A86-4143-4641-8081-8B6CA2D90AFF}"/>
              </a:ext>
            </a:extLst>
          </p:cNvPr>
          <p:cNvSpPr>
            <a:spLocks xmlns:a="http://schemas.openxmlformats.org/drawingml/2006/main" noGrp="1"/>
          </p:cNvSpPr>
          <p:nvPr/>
        </p:nvSpPr>
        <p:spPr>
          <a:xfrm xmlns:a="http://schemas.openxmlformats.org/drawingml/2006/main">
            <a:off x="8286750" y="53054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252528"/>
                </a:solidFill>
                <a:latin typeface="DFKai-SB"/>
                <a:ea typeface="DFKai-SB"/>
                <a:cs typeface="DFKai-SB"/>
              </a:defRPr>
            </a:pPr>
            <a:r>
              <a:rPr sz="2025" b="0">
                <a:solidFill>
                  <a:srgbClr val="252528"/>
                </a:solidFill>
                <a:latin typeface="DFKai-SB"/>
                <a:ea typeface="DFKai-SB"/>
                <a:cs typeface="DFKai-SB"/>
              </a:rPr>
              <a:t>移除不支持主張的內容</a:t>
            </a:r>
          </a:p>
        </p:txBody>
      </p:sp>
      <p:sp>
        <p:nvSpPr>
          <p:cNvPr id="9" name="">
            <a:extLst xmlns:a="http://schemas.openxmlformats.org/drawingml/2006/main">
              <a:ext uri="{FF2B5EF4-FFF2-40B4-BE49-F238E27FC236}">
                <a16:creationId xmlns:a16="http://schemas.microsoft.com/office/drawing/2014/main" id="{BD529814-68C4-4229-9EF4-7D68038322AB}"/>
              </a:ext>
            </a:extLst>
          </p:cNvPr>
          <p:cNvSpPr>
            <a:spLocks xmlns:a="http://schemas.openxmlformats.org/drawingml/2006/main" noGrp="1"/>
          </p:cNvSpPr>
          <p:nvPr/>
        </p:nvSpPr>
        <p:spPr>
          <a:xfrm xmlns:a="http://schemas.openxmlformats.org/drawingml/2006/main">
            <a:off x="1428750" y="59626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0">
                <a:solidFill>
                  <a:srgbClr val="252528"/>
                </a:solidFill>
                <a:latin typeface="DFKai-SB"/>
                <a:ea typeface="DFKai-SB"/>
                <a:cs typeface="DFKai-SB"/>
              </a:defRPr>
            </a:pPr>
            <a:r>
              <a:rPr sz="2475" b="0">
                <a:solidFill>
                  <a:srgbClr val="252528"/>
                </a:solidFill>
                <a:latin typeface="DFKai-SB"/>
                <a:ea typeface="DFKai-SB"/>
                <a:cs typeface="DFKai-SB"/>
              </a:rPr>
              <a:t>先讓標題說清楚，再讓圖像幫忙解釋</a:t>
            </a:r>
          </a:p>
        </p:txBody>
      </p:sp>
    </p:spTree>
    <p:extLst>
      <p:ext uri="{BB962C8B-B14F-4D97-AF65-F5344CB8AC3E}">
        <p14:creationId xmlns:p14="http://schemas.microsoft.com/office/powerpoint/2010/main" val="11217607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f83ed8eed9040a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56BF97-74F7-4016-9EB8-303C561F786E}"/>
              </a:ext>
            </a:extLst>
          </p:cNvPr>
          <p:cNvSpPr>
            <a:spLocks xmlns:a="http://schemas.openxmlformats.org/drawingml/2006/main" noGrp="1"/>
          </p:cNvSpPr>
          <p:nvPr/>
        </p:nvSpPr>
        <p:spPr>
          <a:xfrm xmlns:a="http://schemas.openxmlformats.org/drawingml/2006/main">
            <a:off x="371475" y="8572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102D69"/>
                </a:solidFill>
                <a:latin typeface="Microsoft JhengHei"/>
                <a:ea typeface="Microsoft JhengHei"/>
                <a:cs typeface="Microsoft JhengHei"/>
              </a:defRPr>
            </a:pPr>
            <a:r>
              <a:rPr sz="3150" b="1">
                <a:solidFill>
                  <a:srgbClr val="102D69"/>
                </a:solidFill>
                <a:latin typeface="Microsoft JhengHei"/>
                <a:ea typeface="Microsoft JhengHei"/>
                <a:cs typeface="Microsoft JhengHei"/>
              </a:rPr>
              <a:t>一頁一個主張，下面放證據</a:t>
            </a:r>
          </a:p>
        </p:txBody>
      </p:sp>
      <p:sp>
        <p:nvSpPr>
          <p:cNvPr id="3" name="">
            <a:extLst xmlns:a="http://schemas.openxmlformats.org/drawingml/2006/main">
              <a:ext uri="{FF2B5EF4-FFF2-40B4-BE49-F238E27FC236}">
                <a16:creationId xmlns:a16="http://schemas.microsoft.com/office/drawing/2014/main" id="{4B599D83-F366-4B99-8B1B-C0939898630E}"/>
              </a:ext>
            </a:extLst>
          </p:cNvPr>
          <p:cNvSpPr>
            <a:spLocks xmlns:a="http://schemas.openxmlformats.org/drawingml/2006/main" noGrp="1"/>
          </p:cNvSpPr>
          <p:nvPr/>
        </p:nvSpPr>
        <p:spPr>
          <a:xfrm xmlns:a="http://schemas.openxmlformats.org/drawingml/2006/main">
            <a:off x="400050" y="13239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102D69"/>
                </a:solidFill>
                <a:latin typeface="Microsoft JhengHei"/>
                <a:ea typeface="Microsoft JhengHei"/>
                <a:cs typeface="Microsoft JhengHei"/>
              </a:defRPr>
            </a:pPr>
            <a:r>
              <a:rPr sz="2475" b="1">
                <a:solidFill>
                  <a:srgbClr val="102D69"/>
                </a:solidFill>
                <a:latin typeface="Microsoft JhengHei"/>
                <a:ea typeface="Microsoft JhengHei"/>
                <a:cs typeface="Microsoft JhengHei"/>
              </a:rPr>
              <a:t>主題式標題</a:t>
            </a:r>
          </a:p>
        </p:txBody>
      </p:sp>
      <p:sp>
        <p:nvSpPr>
          <p:cNvPr id="4" name="">
            <a:extLst xmlns:a="http://schemas.openxmlformats.org/drawingml/2006/main">
              <a:ext uri="{FF2B5EF4-FFF2-40B4-BE49-F238E27FC236}">
                <a16:creationId xmlns:a16="http://schemas.microsoft.com/office/drawing/2014/main" id="{DC80D363-045E-4420-A0E9-D7CC0B34C5D7}"/>
              </a:ext>
            </a:extLst>
          </p:cNvPr>
          <p:cNvSpPr>
            <a:spLocks xmlns:a="http://schemas.openxmlformats.org/drawingml/2006/main" noGrp="1"/>
          </p:cNvSpPr>
          <p:nvPr/>
        </p:nvSpPr>
        <p:spPr>
          <a:xfrm xmlns:a="http://schemas.openxmlformats.org/drawingml/2006/main">
            <a:off x="5734050" y="1323975"/>
            <a:ext cx="5991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102D69"/>
                </a:solidFill>
                <a:latin typeface="Microsoft JhengHei"/>
                <a:ea typeface="Microsoft JhengHei"/>
                <a:cs typeface="Microsoft JhengHei"/>
              </a:defRPr>
            </a:pPr>
            <a:r>
              <a:rPr sz="2475" b="1">
                <a:solidFill>
                  <a:srgbClr val="102D69"/>
                </a:solidFill>
                <a:latin typeface="Microsoft JhengHei"/>
                <a:ea typeface="Microsoft JhengHei"/>
                <a:cs typeface="Microsoft JhengHei"/>
              </a:rPr>
              <a:t>主張＋視覺證據</a:t>
            </a:r>
          </a:p>
        </p:txBody>
      </p:sp>
      <p:sp>
        <p:nvSpPr>
          <p:cNvPr id="5" name="">
            <a:extLst xmlns:a="http://schemas.openxmlformats.org/drawingml/2006/main">
              <a:ext uri="{FF2B5EF4-FFF2-40B4-BE49-F238E27FC236}">
                <a16:creationId xmlns:a16="http://schemas.microsoft.com/office/drawing/2014/main" id="{0B361F9C-4997-46F4-97D5-8CC087009E2A}"/>
              </a:ext>
            </a:extLst>
          </p:cNvPr>
          <p:cNvSpPr>
            <a:spLocks xmlns:a="http://schemas.openxmlformats.org/drawingml/2006/main" noGrp="1"/>
          </p:cNvSpPr>
          <p:nvPr/>
        </p:nvSpPr>
        <p:spPr>
          <a:xfrm xmlns:a="http://schemas.openxmlformats.org/drawingml/2006/main">
            <a:off x="1019175" y="2371725"/>
            <a:ext cx="2428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1">
                <a:solidFill>
                  <a:srgbClr val="102D69"/>
                </a:solidFill>
                <a:latin typeface="Microsoft JhengHei"/>
                <a:ea typeface="Microsoft JhengHei"/>
                <a:cs typeface="Microsoft JhengHei"/>
              </a:defRPr>
            </a:pPr>
            <a:r>
              <a:rPr sz="2025" b="1">
                <a:solidFill>
                  <a:srgbClr val="102D69"/>
                </a:solidFill>
                <a:latin typeface="Microsoft JhengHei"/>
                <a:ea typeface="Microsoft JhengHei"/>
                <a:cs typeface="Microsoft JhengHei"/>
              </a:rPr>
              <a:t>研究結果</a:t>
            </a:r>
          </a:p>
        </p:txBody>
      </p:sp>
      <p:sp>
        <p:nvSpPr>
          <p:cNvPr id="6" name="">
            <a:extLst xmlns:a="http://schemas.openxmlformats.org/drawingml/2006/main">
              <a:ext uri="{FF2B5EF4-FFF2-40B4-BE49-F238E27FC236}">
                <a16:creationId xmlns:a16="http://schemas.microsoft.com/office/drawing/2014/main" id="{3B32FCBE-0FEA-4096-BE5B-3B674AAAC648}"/>
              </a:ext>
            </a:extLst>
          </p:cNvPr>
          <p:cNvSpPr>
            <a:spLocks xmlns:a="http://schemas.openxmlformats.org/drawingml/2006/main" noGrp="1"/>
          </p:cNvSpPr>
          <p:nvPr/>
        </p:nvSpPr>
        <p:spPr>
          <a:xfrm xmlns:a="http://schemas.openxmlformats.org/drawingml/2006/main">
            <a:off x="5905500" y="2333625"/>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102D69"/>
                </a:solidFill>
                <a:latin typeface="Microsoft JhengHei"/>
                <a:ea typeface="Microsoft JhengHei"/>
                <a:cs typeface="Microsoft JhengHei"/>
              </a:defRPr>
            </a:pPr>
            <a:r>
              <a:rPr sz="2325" b="1">
                <a:solidFill>
                  <a:srgbClr val="102D69"/>
                </a:solidFill>
                <a:latin typeface="Microsoft JhengHei"/>
                <a:ea typeface="Microsoft JhengHei"/>
                <a:cs typeface="Microsoft JhengHei"/>
              </a:rPr>
              <a:t>用一句話說明主要發現</a:t>
            </a:r>
          </a:p>
        </p:txBody>
      </p:sp>
      <p:sp>
        <p:nvSpPr>
          <p:cNvPr id="7" name="">
            <a:extLst xmlns:a="http://schemas.openxmlformats.org/drawingml/2006/main">
              <a:ext uri="{FF2B5EF4-FFF2-40B4-BE49-F238E27FC236}">
                <a16:creationId xmlns:a16="http://schemas.microsoft.com/office/drawing/2014/main" id="{7218CAB5-FBA5-4FE0-8D6D-09C8C016898B}"/>
              </a:ext>
            </a:extLst>
          </p:cNvPr>
          <p:cNvSpPr>
            <a:spLocks xmlns:a="http://schemas.openxmlformats.org/drawingml/2006/main" noGrp="1"/>
          </p:cNvSpPr>
          <p:nvPr/>
        </p:nvSpPr>
        <p:spPr>
          <a:xfrm xmlns:a="http://schemas.openxmlformats.org/drawingml/2006/main">
            <a:off x="838200" y="59721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925" b="1">
                <a:solidFill>
                  <a:srgbClr val="FFFFFF"/>
                </a:solidFill>
                <a:latin typeface="Microsoft JhengHei"/>
                <a:ea typeface="Microsoft JhengHei"/>
                <a:cs typeface="Microsoft JhengHei"/>
              </a:defRPr>
            </a:pPr>
            <a:r>
              <a:rPr sz="2925" b="1">
                <a:solidFill>
                  <a:srgbClr val="FFFFFF"/>
                </a:solidFill>
                <a:latin typeface="Microsoft JhengHei"/>
                <a:ea typeface="Microsoft JhengHei"/>
                <a:cs typeface="Microsoft JhengHei"/>
              </a:rPr>
              <a:t>寫出主張 → 挑出證據 → 刪除雜訊</a:t>
            </a:r>
          </a:p>
        </p:txBody>
      </p:sp>
    </p:spTree>
    <p:extLst>
      <p:ext uri="{BB962C8B-B14F-4D97-AF65-F5344CB8AC3E}">
        <p14:creationId xmlns:p14="http://schemas.microsoft.com/office/powerpoint/2010/main" val="18811321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fccd86dfed541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F8BD11-A7E1-4EC3-96BB-2AFEEB031020}"/>
              </a:ext>
            </a:extLst>
          </p:cNvPr>
          <p:cNvSpPr>
            <a:spLocks xmlns:a="http://schemas.openxmlformats.org/drawingml/2006/main" noGrp="1"/>
          </p:cNvSpPr>
          <p:nvPr/>
        </p:nvSpPr>
        <p:spPr>
          <a:xfrm xmlns:a="http://schemas.openxmlformats.org/drawingml/2006/main">
            <a:off x="581025" y="8477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700" b="1">
                <a:solidFill>
                  <a:srgbClr val="252528"/>
                </a:solidFill>
                <a:latin typeface="Microsoft JhengHei"/>
                <a:ea typeface="Microsoft JhengHei"/>
                <a:cs typeface="Microsoft JhengHei"/>
              </a:defRPr>
            </a:pPr>
            <a:r>
              <a:rPr sz="5700" b="1">
                <a:solidFill>
                  <a:srgbClr val="252528"/>
                </a:solidFill>
                <a:latin typeface="Microsoft JhengHei"/>
                <a:ea typeface="Microsoft JhengHei"/>
                <a:cs typeface="Microsoft JhengHei"/>
              </a:rPr>
              <a:t>一頁</a:t>
            </a:r>
          </a:p>
        </p:txBody>
      </p:sp>
      <p:sp>
        <p:nvSpPr>
          <p:cNvPr id="3" name="">
            <a:extLst xmlns:a="http://schemas.openxmlformats.org/drawingml/2006/main">
              <a:ext uri="{FF2B5EF4-FFF2-40B4-BE49-F238E27FC236}">
                <a16:creationId xmlns:a16="http://schemas.microsoft.com/office/drawing/2014/main" id="{DE8E5631-A5EC-4CC7-8FF6-3BF23ABF8A22}"/>
              </a:ext>
            </a:extLst>
          </p:cNvPr>
          <p:cNvSpPr>
            <a:spLocks xmlns:a="http://schemas.openxmlformats.org/drawingml/2006/main" noGrp="1"/>
          </p:cNvSpPr>
          <p:nvPr/>
        </p:nvSpPr>
        <p:spPr>
          <a:xfrm xmlns:a="http://schemas.openxmlformats.org/drawingml/2006/main">
            <a:off x="581025" y="1809750"/>
            <a:ext cx="47339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250" b="1">
                <a:solidFill>
                  <a:srgbClr val="ED1765"/>
                </a:solidFill>
                <a:latin typeface="Microsoft JhengHei"/>
                <a:ea typeface="Microsoft JhengHei"/>
                <a:cs typeface="Microsoft JhengHei"/>
              </a:defRPr>
            </a:pPr>
            <a:r>
              <a:rPr sz="5250" b="1">
                <a:solidFill>
                  <a:srgbClr val="ED1765"/>
                </a:solidFill>
                <a:latin typeface="Microsoft JhengHei"/>
                <a:ea typeface="Microsoft JhengHei"/>
                <a:cs typeface="Microsoft JhengHei"/>
              </a:rPr>
              <a:t>一個主張</a:t>
            </a:r>
          </a:p>
        </p:txBody>
      </p:sp>
      <p:sp>
        <p:nvSpPr>
          <p:cNvPr id="4" name="">
            <a:extLst xmlns:a="http://schemas.openxmlformats.org/drawingml/2006/main">
              <a:ext uri="{FF2B5EF4-FFF2-40B4-BE49-F238E27FC236}">
                <a16:creationId xmlns:a16="http://schemas.microsoft.com/office/drawing/2014/main" id="{D31180D0-96F6-44CB-B529-E22BC1E3B1F3}"/>
              </a:ext>
            </a:extLst>
          </p:cNvPr>
          <p:cNvSpPr>
            <a:spLocks xmlns:a="http://schemas.openxmlformats.org/drawingml/2006/main" noGrp="1"/>
          </p:cNvSpPr>
          <p:nvPr/>
        </p:nvSpPr>
        <p:spPr>
          <a:xfrm xmlns:a="http://schemas.openxmlformats.org/drawingml/2006/main">
            <a:off x="6257925" y="942975"/>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52528"/>
                </a:solidFill>
                <a:latin typeface="Microsoft JhengHei"/>
                <a:ea typeface="Microsoft JhengHei"/>
                <a:cs typeface="Microsoft JhengHei"/>
              </a:defRPr>
            </a:pPr>
            <a:r>
              <a:rPr sz="3000" b="1">
                <a:solidFill>
                  <a:srgbClr val="252528"/>
                </a:solidFill>
                <a:latin typeface="Microsoft JhengHei"/>
                <a:ea typeface="Microsoft JhengHei"/>
                <a:cs typeface="Microsoft JhengHei"/>
              </a:rPr>
              <a:t>01  寫主張</a:t>
            </a:r>
          </a:p>
        </p:txBody>
      </p:sp>
      <p:sp>
        <p:nvSpPr>
          <p:cNvPr id="5" name="">
            <a:extLst xmlns:a="http://schemas.openxmlformats.org/drawingml/2006/main">
              <a:ext uri="{FF2B5EF4-FFF2-40B4-BE49-F238E27FC236}">
                <a16:creationId xmlns:a16="http://schemas.microsoft.com/office/drawing/2014/main" id="{6E55804D-8286-4C85-883C-8499064BA864}"/>
              </a:ext>
            </a:extLst>
          </p:cNvPr>
          <p:cNvSpPr>
            <a:spLocks xmlns:a="http://schemas.openxmlformats.org/drawingml/2006/main" noGrp="1"/>
          </p:cNvSpPr>
          <p:nvPr/>
        </p:nvSpPr>
        <p:spPr>
          <a:xfrm xmlns:a="http://schemas.openxmlformats.org/drawingml/2006/main">
            <a:off x="6267450" y="15811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52528"/>
                </a:solidFill>
                <a:latin typeface="Microsoft JhengHei"/>
                <a:ea typeface="Microsoft JhengHei"/>
                <a:cs typeface="Microsoft JhengHei"/>
              </a:defRPr>
            </a:pPr>
            <a:r>
              <a:rPr sz="2175" b="0">
                <a:solidFill>
                  <a:srgbClr val="252528"/>
                </a:solidFill>
                <a:latin typeface="Microsoft JhengHei"/>
                <a:ea typeface="Microsoft JhengHei"/>
                <a:cs typeface="Microsoft JhengHei"/>
              </a:rPr>
              <a:t>用一句話說明發現</a:t>
            </a:r>
          </a:p>
        </p:txBody>
      </p:sp>
      <p:sp>
        <p:nvSpPr>
          <p:cNvPr id="6" name="">
            <a:extLst xmlns:a="http://schemas.openxmlformats.org/drawingml/2006/main">
              <a:ext uri="{FF2B5EF4-FFF2-40B4-BE49-F238E27FC236}">
                <a16:creationId xmlns:a16="http://schemas.microsoft.com/office/drawing/2014/main" id="{C3819884-3B48-4F79-AE29-41C85AB8E574}"/>
              </a:ext>
            </a:extLst>
          </p:cNvPr>
          <p:cNvSpPr>
            <a:spLocks xmlns:a="http://schemas.openxmlformats.org/drawingml/2006/main" noGrp="1"/>
          </p:cNvSpPr>
          <p:nvPr/>
        </p:nvSpPr>
        <p:spPr>
          <a:xfrm xmlns:a="http://schemas.openxmlformats.org/drawingml/2006/main">
            <a:off x="6257925" y="259080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52528"/>
                </a:solidFill>
                <a:latin typeface="Microsoft JhengHei"/>
                <a:ea typeface="Microsoft JhengHei"/>
                <a:cs typeface="Microsoft JhengHei"/>
              </a:defRPr>
            </a:pPr>
            <a:r>
              <a:rPr sz="3000" b="1">
                <a:solidFill>
                  <a:srgbClr val="252528"/>
                </a:solidFill>
                <a:latin typeface="Microsoft JhengHei"/>
                <a:ea typeface="Microsoft JhengHei"/>
                <a:cs typeface="Microsoft JhengHei"/>
              </a:rPr>
              <a:t>02  挑證據</a:t>
            </a:r>
          </a:p>
        </p:txBody>
      </p:sp>
      <p:sp>
        <p:nvSpPr>
          <p:cNvPr id="7" name="">
            <a:extLst xmlns:a="http://schemas.openxmlformats.org/drawingml/2006/main">
              <a:ext uri="{FF2B5EF4-FFF2-40B4-BE49-F238E27FC236}">
                <a16:creationId xmlns:a16="http://schemas.microsoft.com/office/drawing/2014/main" id="{036B6C11-BDBB-4A68-939F-0A1787FBAE1D}"/>
              </a:ext>
            </a:extLst>
          </p:cNvPr>
          <p:cNvSpPr>
            <a:spLocks xmlns:a="http://schemas.openxmlformats.org/drawingml/2006/main" noGrp="1"/>
          </p:cNvSpPr>
          <p:nvPr/>
        </p:nvSpPr>
        <p:spPr>
          <a:xfrm xmlns:a="http://schemas.openxmlformats.org/drawingml/2006/main">
            <a:off x="6267450" y="322897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52528"/>
                </a:solidFill>
                <a:latin typeface="Microsoft JhengHei"/>
                <a:ea typeface="Microsoft JhengHei"/>
                <a:cs typeface="Microsoft JhengHei"/>
              </a:defRPr>
            </a:pPr>
            <a:r>
              <a:rPr sz="2175" b="0">
                <a:solidFill>
                  <a:srgbClr val="252528"/>
                </a:solidFill>
                <a:latin typeface="Microsoft JhengHei"/>
                <a:ea typeface="Microsoft JhengHei"/>
                <a:cs typeface="Microsoft JhengHei"/>
              </a:rPr>
              <a:t>用圖表或案例支持</a:t>
            </a:r>
          </a:p>
        </p:txBody>
      </p:sp>
      <p:sp>
        <p:nvSpPr>
          <p:cNvPr id="8" name="">
            <a:extLst xmlns:a="http://schemas.openxmlformats.org/drawingml/2006/main">
              <a:ext uri="{FF2B5EF4-FFF2-40B4-BE49-F238E27FC236}">
                <a16:creationId xmlns:a16="http://schemas.microsoft.com/office/drawing/2014/main" id="{CF0EDC6A-F928-4C11-926F-842B6B80BC84}"/>
              </a:ext>
            </a:extLst>
          </p:cNvPr>
          <p:cNvSpPr>
            <a:spLocks xmlns:a="http://schemas.openxmlformats.org/drawingml/2006/main" noGrp="1"/>
          </p:cNvSpPr>
          <p:nvPr/>
        </p:nvSpPr>
        <p:spPr>
          <a:xfrm xmlns:a="http://schemas.openxmlformats.org/drawingml/2006/main">
            <a:off x="6257925" y="4238625"/>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52528"/>
                </a:solidFill>
                <a:latin typeface="Microsoft JhengHei"/>
                <a:ea typeface="Microsoft JhengHei"/>
                <a:cs typeface="Microsoft JhengHei"/>
              </a:defRPr>
            </a:pPr>
            <a:r>
              <a:rPr sz="3000" b="1">
                <a:solidFill>
                  <a:srgbClr val="252528"/>
                </a:solidFill>
                <a:latin typeface="Microsoft JhengHei"/>
                <a:ea typeface="Microsoft JhengHei"/>
                <a:cs typeface="Microsoft JhengHei"/>
              </a:rPr>
              <a:t>03  刪雜訊</a:t>
            </a:r>
          </a:p>
        </p:txBody>
      </p:sp>
      <p:sp>
        <p:nvSpPr>
          <p:cNvPr id="9" name="">
            <a:extLst xmlns:a="http://schemas.openxmlformats.org/drawingml/2006/main">
              <a:ext uri="{FF2B5EF4-FFF2-40B4-BE49-F238E27FC236}">
                <a16:creationId xmlns:a16="http://schemas.microsoft.com/office/drawing/2014/main" id="{03C7178D-F372-47E1-B494-BBAAA7D71E77}"/>
              </a:ext>
            </a:extLst>
          </p:cNvPr>
          <p:cNvSpPr>
            <a:spLocks xmlns:a="http://schemas.openxmlformats.org/drawingml/2006/main" noGrp="1"/>
          </p:cNvSpPr>
          <p:nvPr/>
        </p:nvSpPr>
        <p:spPr>
          <a:xfrm xmlns:a="http://schemas.openxmlformats.org/drawingml/2006/main">
            <a:off x="6267450" y="48768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52528"/>
                </a:solidFill>
                <a:latin typeface="Microsoft JhengHei"/>
                <a:ea typeface="Microsoft JhengHei"/>
                <a:cs typeface="Microsoft JhengHei"/>
              </a:defRPr>
            </a:pPr>
            <a:r>
              <a:rPr sz="2175" b="0">
                <a:solidFill>
                  <a:srgbClr val="252528"/>
                </a:solidFill>
                <a:latin typeface="Microsoft JhengHei"/>
                <a:ea typeface="Microsoft JhengHei"/>
                <a:cs typeface="Microsoft JhengHei"/>
              </a:rPr>
              <a:t>移除不支持主張的內容</a:t>
            </a:r>
          </a:p>
        </p:txBody>
      </p:sp>
      <p:sp>
        <p:nvSpPr>
          <p:cNvPr id="10" name="">
            <a:extLst xmlns:a="http://schemas.openxmlformats.org/drawingml/2006/main">
              <a:ext uri="{FF2B5EF4-FFF2-40B4-BE49-F238E27FC236}">
                <a16:creationId xmlns:a16="http://schemas.microsoft.com/office/drawing/2014/main" id="{4E452E51-09C8-4607-84E7-19EB7EC765C0}"/>
              </a:ext>
            </a:extLst>
          </p:cNvPr>
          <p:cNvSpPr>
            <a:spLocks xmlns:a="http://schemas.openxmlformats.org/drawingml/2006/main" noGrp="1"/>
          </p:cNvSpPr>
          <p:nvPr/>
        </p:nvSpPr>
        <p:spPr>
          <a:xfrm xmlns:a="http://schemas.openxmlformats.org/drawingml/2006/main">
            <a:off x="1847850" y="4410075"/>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1">
                <a:solidFill>
                  <a:srgbClr val="252528"/>
                </a:solidFill>
                <a:latin typeface="Microsoft JhengHei"/>
                <a:ea typeface="Microsoft JhengHei"/>
                <a:cs typeface="Microsoft JhengHei"/>
              </a:defRPr>
            </a:pPr>
            <a:r>
              <a:rPr sz="2850" b="1">
                <a:solidFill>
                  <a:srgbClr val="252528"/>
                </a:solidFill>
                <a:latin typeface="Microsoft JhengHei"/>
                <a:ea typeface="Microsoft JhengHei"/>
                <a:cs typeface="Microsoft JhengHei"/>
              </a:rPr>
              <a:t>下面放證據</a:t>
            </a:r>
          </a:p>
        </p:txBody>
      </p:sp>
      <p:sp>
        <p:nvSpPr>
          <p:cNvPr id="11" name="">
            <a:extLst xmlns:a="http://schemas.openxmlformats.org/drawingml/2006/main">
              <a:ext uri="{FF2B5EF4-FFF2-40B4-BE49-F238E27FC236}">
                <a16:creationId xmlns:a16="http://schemas.microsoft.com/office/drawing/2014/main" id="{8D5FDDD0-8258-48E2-A1D5-7F3364E02A2F}"/>
              </a:ext>
            </a:extLst>
          </p:cNvPr>
          <p:cNvSpPr>
            <a:spLocks xmlns:a="http://schemas.openxmlformats.org/drawingml/2006/main" noGrp="1"/>
          </p:cNvSpPr>
          <p:nvPr/>
        </p:nvSpPr>
        <p:spPr>
          <a:xfrm xmlns:a="http://schemas.openxmlformats.org/drawingml/2006/main">
            <a:off x="904875" y="6296025"/>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0">
                <a:solidFill>
                  <a:srgbClr val="252528"/>
                </a:solidFill>
                <a:latin typeface="Microsoft JhengHei"/>
                <a:ea typeface="Microsoft JhengHei"/>
                <a:cs typeface="Microsoft JhengHei"/>
              </a:defRPr>
            </a:pPr>
            <a:r>
              <a:rPr sz="2175" b="0">
                <a:solidFill>
                  <a:srgbClr val="252528"/>
                </a:solidFill>
                <a:latin typeface="Microsoft JhengHei"/>
                <a:ea typeface="Microsoft JhengHei"/>
                <a:cs typeface="Microsoft JhengHei"/>
              </a:rPr>
              <a:t>先讓標題說清楚，再讓圖像幫忙解釋</a:t>
            </a:r>
          </a:p>
        </p:txBody>
      </p:sp>
    </p:spTree>
    <p:extLst>
      <p:ext uri="{BB962C8B-B14F-4D97-AF65-F5344CB8AC3E}">
        <p14:creationId xmlns:p14="http://schemas.microsoft.com/office/powerpoint/2010/main" val="13812981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aa58a9c31b6e43a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E7AC13-8919-4239-B463-95F57D00A33E}"/>
              </a:ext>
            </a:extLst>
          </p:cNvPr>
          <p:cNvSpPr>
            <a:spLocks xmlns:a="http://schemas.openxmlformats.org/drawingml/2006/main" noGrp="1"/>
          </p:cNvSpPr>
          <p:nvPr/>
        </p:nvSpPr>
        <p:spPr>
          <a:xfrm xmlns:a="http://schemas.openxmlformats.org/drawingml/2006/main">
            <a:off x="1838325" y="1104900"/>
            <a:ext cx="8572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4425" b="1">
                <a:solidFill>
                  <a:srgbClr val="252528"/>
                </a:solidFill>
                <a:latin typeface="DFKai-SB"/>
                <a:ea typeface="DFKai-SB"/>
                <a:cs typeface="DFKai-SB"/>
              </a:defRPr>
            </a:pPr>
            <a:r>
              <a:rPr sz="4425" b="1">
                <a:solidFill>
                  <a:srgbClr val="252528"/>
                </a:solidFill>
                <a:latin typeface="DFKai-SB"/>
                <a:ea typeface="DFKai-SB"/>
                <a:cs typeface="DFKai-SB"/>
              </a:rPr>
              <a:t>先讓聽眾看見重點</a:t>
            </a:r>
          </a:p>
        </p:txBody>
      </p:sp>
    </p:spTree>
    <p:extLst>
      <p:ext uri="{BB962C8B-B14F-4D97-AF65-F5344CB8AC3E}">
        <p14:creationId xmlns:p14="http://schemas.microsoft.com/office/powerpoint/2010/main" val="1707567502"/>
      </p:ext>
    </p:extLst>
  </p:cSld>
  <p:transition advClick="0" advTm="20000"/>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c5524140ab6411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44AEFB-80CF-4850-8C6A-2608541765D9}"/>
              </a:ext>
            </a:extLst>
          </p:cNvPr>
          <p:cNvSpPr>
            <a:spLocks xmlns:a="http://schemas.openxmlformats.org/drawingml/2006/main" noGrp="1"/>
          </p:cNvSpPr>
          <p:nvPr/>
        </p:nvSpPr>
        <p:spPr>
          <a:xfrm xmlns:a="http://schemas.openxmlformats.org/drawingml/2006/main">
            <a:off x="1228725" y="113347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4650" b="1">
                <a:solidFill>
                  <a:srgbClr val="102D69"/>
                </a:solidFill>
                <a:latin typeface="Microsoft JhengHei"/>
                <a:ea typeface="Microsoft JhengHei"/>
                <a:cs typeface="Microsoft JhengHei"/>
              </a:defRPr>
            </a:pPr>
            <a:r>
              <a:rPr sz="4650" b="1">
                <a:solidFill>
                  <a:srgbClr val="102D69"/>
                </a:solidFill>
                <a:latin typeface="Microsoft JhengHei"/>
                <a:ea typeface="Microsoft JhengHei"/>
                <a:cs typeface="Microsoft JhengHei"/>
              </a:rPr>
              <a:t>先讓聽眾看見重點</a:t>
            </a:r>
          </a:p>
        </p:txBody>
      </p:sp>
    </p:spTree>
    <p:extLst>
      <p:ext uri="{BB962C8B-B14F-4D97-AF65-F5344CB8AC3E}">
        <p14:creationId xmlns:p14="http://schemas.microsoft.com/office/powerpoint/2010/main" val="933610239"/>
      </p:ext>
    </p:extLst>
  </p:cSld>
  <p:transition advClick="0" advTm="20000"/>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ef62cddf8df42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3927BD-7753-44F3-B859-639906FB66E5}"/>
              </a:ext>
            </a:extLst>
          </p:cNvPr>
          <p:cNvSpPr>
            <a:spLocks xmlns:a="http://schemas.openxmlformats.org/drawingml/2006/main" noGrp="1"/>
          </p:cNvSpPr>
          <p:nvPr/>
        </p:nvSpPr>
        <p:spPr>
          <a:xfrm xmlns:a="http://schemas.openxmlformats.org/drawingml/2006/main">
            <a:off x="590550" y="1381125"/>
            <a:ext cx="6000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252528"/>
                </a:solidFill>
                <a:latin typeface="Microsoft JhengHei"/>
                <a:ea typeface="Microsoft JhengHei"/>
                <a:cs typeface="Microsoft JhengHei"/>
              </a:defRPr>
            </a:pPr>
            <a:r>
              <a:rPr sz="5100" b="1">
                <a:solidFill>
                  <a:srgbClr val="252528"/>
                </a:solidFill>
                <a:latin typeface="Microsoft JhengHei"/>
                <a:ea typeface="Microsoft JhengHei"/>
                <a:cs typeface="Microsoft JhengHei"/>
              </a:rPr>
              <a:t>先讓聽眾</a:t>
            </a:r>
          </a:p>
        </p:txBody>
      </p:sp>
      <p:sp>
        <p:nvSpPr>
          <p:cNvPr id="3" name="">
            <a:extLst xmlns:a="http://schemas.openxmlformats.org/drawingml/2006/main">
              <a:ext uri="{FF2B5EF4-FFF2-40B4-BE49-F238E27FC236}">
                <a16:creationId xmlns:a16="http://schemas.microsoft.com/office/drawing/2014/main" id="{FE7D5304-79CF-4FDB-BBB0-AE7EDA7164B6}"/>
              </a:ext>
            </a:extLst>
          </p:cNvPr>
          <p:cNvSpPr>
            <a:spLocks xmlns:a="http://schemas.openxmlformats.org/drawingml/2006/main" noGrp="1"/>
          </p:cNvSpPr>
          <p:nvPr/>
        </p:nvSpPr>
        <p:spPr>
          <a:xfrm xmlns:a="http://schemas.openxmlformats.org/drawingml/2006/main">
            <a:off x="590550" y="2628900"/>
            <a:ext cx="50958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050" b="1">
                <a:solidFill>
                  <a:srgbClr val="252528"/>
                </a:solidFill>
                <a:latin typeface="Microsoft JhengHei"/>
                <a:ea typeface="Microsoft JhengHei"/>
                <a:cs typeface="Microsoft JhengHei"/>
              </a:defRPr>
            </a:pPr>
            <a:r>
              <a:rPr sz="7050" b="1">
                <a:solidFill>
                  <a:srgbClr val="252528"/>
                </a:solidFill>
                <a:latin typeface="Microsoft JhengHei"/>
                <a:ea typeface="Microsoft JhengHei"/>
                <a:cs typeface="Microsoft JhengHei"/>
              </a:rPr>
              <a:t>看見</a:t>
            </a:r>
          </a:p>
        </p:txBody>
      </p:sp>
      <p:sp>
        <p:nvSpPr>
          <p:cNvPr id="4" name="">
            <a:extLst xmlns:a="http://schemas.openxmlformats.org/drawingml/2006/main">
              <a:ext uri="{FF2B5EF4-FFF2-40B4-BE49-F238E27FC236}">
                <a16:creationId xmlns:a16="http://schemas.microsoft.com/office/drawing/2014/main" id="{46225ED4-4E65-43C2-831D-E7CBE26E565A}"/>
              </a:ext>
            </a:extLst>
          </p:cNvPr>
          <p:cNvSpPr>
            <a:spLocks xmlns:a="http://schemas.openxmlformats.org/drawingml/2006/main" noGrp="1"/>
          </p:cNvSpPr>
          <p:nvPr/>
        </p:nvSpPr>
        <p:spPr>
          <a:xfrm xmlns:a="http://schemas.openxmlformats.org/drawingml/2006/main">
            <a:off x="590550" y="4019550"/>
            <a:ext cx="5095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400" b="1">
                <a:solidFill>
                  <a:srgbClr val="ED1765"/>
                </a:solidFill>
                <a:latin typeface="Microsoft JhengHei"/>
                <a:ea typeface="Microsoft JhengHei"/>
                <a:cs typeface="Microsoft JhengHei"/>
              </a:defRPr>
            </a:pPr>
            <a:r>
              <a:rPr sz="8400" b="1">
                <a:solidFill>
                  <a:srgbClr val="ED1765"/>
                </a:solidFill>
                <a:latin typeface="Microsoft JhengHei"/>
                <a:ea typeface="Microsoft JhengHei"/>
                <a:cs typeface="Microsoft JhengHei"/>
              </a:rPr>
              <a:t>重點</a:t>
            </a:r>
          </a:p>
        </p:txBody>
      </p:sp>
    </p:spTree>
    <p:extLst>
      <p:ext uri="{BB962C8B-B14F-4D97-AF65-F5344CB8AC3E}">
        <p14:creationId xmlns:p14="http://schemas.microsoft.com/office/powerpoint/2010/main" val="2082779739"/>
      </p:ext>
    </p:extLst>
  </p:cSld>
  <p:transition advClick="0" advTm="20000"/>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2026-09-06T12:48:29.5300000Z</dcterms:created>
  <dcterms:modified xsi:type="dcterms:W3CDTF">2026-09-06T12:48:29.5300000Z</dcterms:modified>
</coreProperties>
</file>